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morning, esteemed judges. We are proud to present OmniCare AI — India's first on-device multimodal clinical diagnostic workstation engineered for the Qualcomm Snapdragon AI Lab Challenge 2026. Powered by the Snapdragon X Elite SoC and its 45 TOPS Qualcomm Hexagon NPU, OmniCare AI runs 6 concurrent diagnostic models with sub-15ms latency, 26+ hours off-grid battery endurance, and zero cloud data leaks, replacing over $15,000 of discrete clinical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India faces a staggering healthcare crisis across 600,000 rural villages. There is only 1 doctor per 1,511 citizens, and 68% of rural patients have zero access to diagnostic specialists. Traditional cloud telehealth fails constantly due to frequent 2G/4G broadband dropouts and power load-shedding. Furthermore, India's DPDP Act 2023 prohibits streaming unencrypted patient biometrics to the cloud. OmniCare AI solves this by keeping 100% of intelligence on the 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hardware-AI co-design leverages the HP OmniBook X 14 and HP EliteBook Ultra G1q. The 45 TOPS Qualcomm Hexagon NPU HTP v73 delivers sub-15ms inference across vision, audio, and language models simultaneously. We exploit the HP Smart Sense Governor with 3 tailored power profiles: Performance at 45 TOPS for acute resuscitation, Balanced at 32 TOPS for daily rounds, and Eco Saver at 20 TOPS delivering 26+ hours of off-grid clinical endurance. Dual beamforming Poly Studio microphones provide 38.4 dB acoustic friction suppression, and the 5MP True Vision camera powers contactless rPPG vitals.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our live Clinical Cockpit interface running natively in the browser. In the top HUD, clinicians see real-time Hexagon NPU allocation, HP Smart Sense governor mode, and ABHA ID patient linkage. Across 6 simultaneous diagnostic panels, clinicians execute melanin-calibrated dermoscopy, pulmonary stethoscopy, speech dictation, Llama-3.2 SOAP scribing, 60 FPS rPPG pulse waves, and paper ECG digitization — all responding in under 15 milliseconds.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we detail our 6 multimodal AI pipelines, all quantized via the Qualcomm AI Hub for QNN Hexagon NPU execution. Vision models like YOLOv8-Seg and ResNet-50 INT8 run in 9.4ms; YAMNet audio runs in 7.1ms; Whisper-Small speech-to-text executes in 12.8ms; Llama-3.2-3B INT4 generates structured clinical notes at 34.2 tokens/second; POS-Net facial rPPG extracts vitals in 8.2ms; and PTB-XL ECG classification completes in 6.8ms.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Patient safety is paramount. OmniCare AI aligns with CDSCO SaMD MDR-2017 Class B principles as a clinical decision-support tool requiring licensed physician confirmation. It features automated ICU escalation pathways for STEMI, tension pneumothorax, and septic shock. Voice dictation is fine-tuned for Indian regional accents, feeding directly into Llama-3.2-3B to generate Subjective, Objective, Assessment, and Plan notes with automatic WHO ICD-10-CM code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Beyond core diagnostics, OmniCare AI introduces 10 distributed edge advancements: the Royal College of Physicians NEWS2 deterioration score; PMBJP Jan Aushadhi generic substitution delivering 82.9% drug savings; CYP450 drug interaction screening; an autonomous 4-agent Council of AI Specialists with CMO arbitration; handheld USB-C POCUS ultrasound AI; vernacular voice counseling across 8 Indian languages; an on-device DICOM 3.0 Web-PACS server; DP-SGD federated learning privacy; HP Wolf Security vault; and 1-click ABDM FHIR R4 bundle exports.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sovereignty and privacy are cryptographically guaranteed. OmniCare AI operates with 100% zero cloud egress in full compliance with India's DPDP Act 2023. Patient records are encrypted at rest using AES-256-GCM in the hardware-isolated HP Wolf Security enclave with PBKDF2 key derivation and a tamper-evident SHA-256 Merkle audit trail. Standardized ABHA FHIR R4 JSON consultation bundles are exported locally with zero WAN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end-to-end architecture is structured as a clean three-tier on-device stack. The sensor perception tier ingests microphone, camera, ECG, and ultrasound feeds. The edge acceleration tier hosts our FastAPI async microservices and Qualcomm QNN Hexagon NPU runtime within a 15W thermal envelope. The presentation tier provides the Clinical Cockpit, Showcase Portal, and interactive pitch deck with 100% deterministic offline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Comparing OmniCare AI against legacy hospital monitors and cloud telehealth reveals overwhelming advantages. Discrete hospital diagnostic carts cost over $15,000, lack AI, and require constant AC mains. Cloud telehealth suffers from 800 to 2,500ms latency, fails completely offline, and risks catastrophic data leaks. OmniCare AI on the Snapdragon X Elite delivers 45 TOPS edge compute, sub-15ms latency, 100% offline resilience, 26+ hour battery, and 82.9% prescription savings on a single portable laptop.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OmniCare AI is backed by rigorous automated verification. All 35 endpoints across 7 diagnostic and security categories pass with zero failures and an average latency under 5 milliseconds (EXIT CODE 0). Judges have three immediate evaluation pathways: Path A is the 1-click Showcase Portal; Path B is the full-stack Clinical Cockpit; and Path C is the master automated verification suite in verify_all.py.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OmniCare AI is engineered to transform frontline healthcare delivery for 1.4 billion citizens across 150,000 Ayushman Bharat Health and Wellness Centres. By empowering Community Health Officers with specialist-grade on-device AI on a Snapdragon-powered HP PC, we eliminate broadband dependency, eliminate drug cost bankruptcy, and bring tertiary healthcare to the last mile. The entire codebase is verified, open-source, and ready for deployment.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82296"/>
            <a:ext cx="5120640" cy="256032"/>
          </a:xfrm>
          <a:prstGeom prst="roundRect">
            <a:avLst/>
          </a:prstGeom>
          <a:solidFill>
            <a:srgbClr val="0C1428"/>
          </a:solidFill>
          <a:ln w="1270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2296"/>
            <a:ext cx="5120640" cy="256032"/>
          </a:xfrm>
          <a:prstGeom prst="rect">
            <a:avLst/>
          </a:prstGeom>
          <a:noFill/>
        </p:spPr>
        <p:txBody>
          <a:bodyPr wrap="square" lIns="101600" rIns="101600" tIns="38100" bIns="38100">
            <a:spAutoFit/>
          </a:bodyPr>
          <a:lstStyle/>
          <a:p>
            <a:pPr algn="ctr"/>
            <a:r>
              <a:rPr sz="850" b="1">
                <a:solidFill>
                  <a:srgbClr val="00E5FF"/>
                </a:solidFill>
                <a:latin typeface="Segoe UI"/>
              </a:rPr>
              <a:t>QUALCOMM SNAPDRAGON® AI LAB  |  BUILD &amp; PRESENT CHALLENGE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08615" y="82296"/>
            <a:ext cx="1188720" cy="256032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08615" y="82296"/>
            <a:ext cx="1188720" cy="256032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SLIDE 01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84048"/>
            <a:ext cx="11002975" cy="13716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8912"/>
            <a:ext cx="1100297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Segoe UI"/>
              </a:rPr>
              <a:t>OmniCare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005840"/>
            <a:ext cx="1100297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00E5FF"/>
                </a:solidFill>
                <a:latin typeface="Segoe UI"/>
              </a:rPr>
              <a:t>India's First On-Device Multimodal Clinical Diagnostic Workstation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73952"/>
            <a:ext cx="11002975" cy="13716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i="1">
                <a:solidFill>
                  <a:srgbClr val="94A3B8"/>
                </a:solidFill>
                <a:latin typeface="Segoe UI"/>
              </a:rPr>
              <a:t>OmniCare AI  |  Qualcomm Snapdragon AI Lab Challenge 2026  |  Slide 1 /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760" y="1481328"/>
            <a:ext cx="1070356" cy="1078992"/>
          </a:xfrm>
          <a:prstGeom prst="roundRect">
            <a:avLst/>
          </a:prstGeom>
          <a:solidFill>
            <a:srgbClr val="121D36"/>
          </a:solidFill>
          <a:ln w="1524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460" y="1508760"/>
            <a:ext cx="1044956" cy="1005840"/>
          </a:xfrm>
          <a:prstGeom prst="rect">
            <a:avLst/>
          </a:prstGeom>
          <a:noFill/>
        </p:spPr>
        <p:txBody>
          <a:bodyPr wrap="square" lIns="25400" rIns="25400" tIns="38100" bIns="25400">
            <a:spAutoFit/>
          </a:bodyPr>
          <a:lstStyle/>
          <a:p>
            <a:pPr algn="ctr"/>
            <a:r>
              <a:rPr b="1" sz="1900">
                <a:solidFill>
                  <a:srgbClr val="00E5FF"/>
                </a:solidFill>
                <a:latin typeface="Segoe UI"/>
              </a:rPr>
              <a:t>45 TOPS</a:t>
            </a:r>
          </a:p>
          <a:p>
            <a:pPr algn="ctr">
              <a:spcBef>
                <a:spcPts val="200"/>
              </a:spcBef>
            </a:pPr>
            <a:r>
              <a:rPr b="1" sz="900">
                <a:solidFill>
                  <a:srgbClr val="CBD5E1"/>
                </a:solidFill>
                <a:latin typeface="Segoe UI"/>
              </a:rPr>
              <a:t>Qualcomm Hexagon NPU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53616" y="1481328"/>
            <a:ext cx="1070356" cy="1078992"/>
          </a:xfrm>
          <a:prstGeom prst="roundRect">
            <a:avLst/>
          </a:prstGeom>
          <a:solidFill>
            <a:srgbClr val="121D36"/>
          </a:solidFill>
          <a:ln w="1524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66316" y="1508760"/>
            <a:ext cx="1044956" cy="1005840"/>
          </a:xfrm>
          <a:prstGeom prst="rect">
            <a:avLst/>
          </a:prstGeom>
          <a:noFill/>
        </p:spPr>
        <p:txBody>
          <a:bodyPr wrap="square" lIns="25400" rIns="25400" tIns="38100" bIns="25400">
            <a:spAutoFit/>
          </a:bodyPr>
          <a:lstStyle/>
          <a:p>
            <a:pPr algn="ctr"/>
            <a:r>
              <a:rPr b="1" sz="1900">
                <a:solidFill>
                  <a:srgbClr val="00E5FF"/>
                </a:solidFill>
                <a:latin typeface="Segoe UI"/>
              </a:rPr>
              <a:t>&lt;15 ms</a:t>
            </a:r>
          </a:p>
          <a:p>
            <a:pPr algn="ctr">
              <a:spcBef>
                <a:spcPts val="200"/>
              </a:spcBef>
            </a:pPr>
            <a:r>
              <a:rPr b="1" sz="900">
                <a:solidFill>
                  <a:srgbClr val="CBD5E1"/>
                </a:solidFill>
                <a:latin typeface="Segoe UI"/>
              </a:rPr>
              <a:t>Per-Modality Latency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87472" y="1481328"/>
            <a:ext cx="1070356" cy="1078992"/>
          </a:xfrm>
          <a:prstGeom prst="roundRect">
            <a:avLst/>
          </a:prstGeom>
          <a:solidFill>
            <a:srgbClr val="121D36"/>
          </a:solidFill>
          <a:ln w="1524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00172" y="1508760"/>
            <a:ext cx="1044956" cy="1005840"/>
          </a:xfrm>
          <a:prstGeom prst="rect">
            <a:avLst/>
          </a:prstGeom>
          <a:noFill/>
        </p:spPr>
        <p:txBody>
          <a:bodyPr wrap="square" lIns="25400" rIns="25400" tIns="38100" bIns="25400">
            <a:spAutoFit/>
          </a:bodyPr>
          <a:lstStyle/>
          <a:p>
            <a:pPr algn="ctr"/>
            <a:r>
              <a:rPr b="1" sz="1900">
                <a:solidFill>
                  <a:srgbClr val="00E5FF"/>
                </a:solidFill>
                <a:latin typeface="Segoe UI"/>
              </a:rPr>
              <a:t>26+ hrs</a:t>
            </a:r>
          </a:p>
          <a:p>
            <a:pPr algn="ctr">
              <a:spcBef>
                <a:spcPts val="200"/>
              </a:spcBef>
            </a:pPr>
            <a:r>
              <a:rPr b="1" sz="900">
                <a:solidFill>
                  <a:srgbClr val="CBD5E1"/>
                </a:solidFill>
                <a:latin typeface="Segoe UI"/>
              </a:rPr>
              <a:t>Off-Grid Battery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1328" y="1481328"/>
            <a:ext cx="1070356" cy="1078992"/>
          </a:xfrm>
          <a:prstGeom prst="roundRect">
            <a:avLst/>
          </a:prstGeom>
          <a:solidFill>
            <a:srgbClr val="121D36"/>
          </a:solidFill>
          <a:ln w="1524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34028" y="1508760"/>
            <a:ext cx="1044956" cy="1005840"/>
          </a:xfrm>
          <a:prstGeom prst="rect">
            <a:avLst/>
          </a:prstGeom>
          <a:noFill/>
        </p:spPr>
        <p:txBody>
          <a:bodyPr wrap="square" lIns="25400" rIns="25400" tIns="38100" bIns="25400">
            <a:spAutoFit/>
          </a:bodyPr>
          <a:lstStyle/>
          <a:p>
            <a:pPr algn="ctr"/>
            <a:r>
              <a:rPr b="1" sz="1900">
                <a:solidFill>
                  <a:srgbClr val="00E5FF"/>
                </a:solidFill>
                <a:latin typeface="Segoe UI"/>
              </a:rPr>
              <a:t>82.9%</a:t>
            </a:r>
          </a:p>
          <a:p>
            <a:pPr algn="ctr">
              <a:spcBef>
                <a:spcPts val="200"/>
              </a:spcBef>
            </a:pPr>
            <a:r>
              <a:rPr b="1" sz="900">
                <a:solidFill>
                  <a:srgbClr val="CBD5E1"/>
                </a:solidFill>
                <a:latin typeface="Segoe UI"/>
              </a:rPr>
              <a:t>Drug Cost Savings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55184" y="1481328"/>
            <a:ext cx="1070356" cy="1078992"/>
          </a:xfrm>
          <a:prstGeom prst="roundRect">
            <a:avLst/>
          </a:prstGeom>
          <a:solidFill>
            <a:srgbClr val="121D36"/>
          </a:solidFill>
          <a:ln w="1524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7884" y="1508760"/>
            <a:ext cx="1044956" cy="1005840"/>
          </a:xfrm>
          <a:prstGeom prst="rect">
            <a:avLst/>
          </a:prstGeom>
          <a:noFill/>
        </p:spPr>
        <p:txBody>
          <a:bodyPr wrap="square" lIns="25400" rIns="25400" tIns="38100" bIns="25400">
            <a:spAutoFit/>
          </a:bodyPr>
          <a:lstStyle/>
          <a:p>
            <a:pPr algn="ctr"/>
            <a:r>
              <a:rPr b="1" sz="1900">
                <a:solidFill>
                  <a:srgbClr val="00E5FF"/>
                </a:solidFill>
                <a:latin typeface="Segoe UI"/>
              </a:rPr>
              <a:t>35/35</a:t>
            </a:r>
          </a:p>
          <a:p>
            <a:pPr algn="ctr">
              <a:spcBef>
                <a:spcPts val="200"/>
              </a:spcBef>
            </a:pPr>
            <a:r>
              <a:rPr b="1" sz="900">
                <a:solidFill>
                  <a:srgbClr val="CBD5E1"/>
                </a:solidFill>
                <a:latin typeface="Segoe UI"/>
              </a:rPr>
              <a:t>Gates - EXIT CODE 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2697480"/>
            <a:ext cx="5669280" cy="3611880"/>
          </a:xfrm>
          <a:prstGeom prst="roundRect">
            <a:avLst/>
          </a:prstGeom>
          <a:solidFill>
            <a:srgbClr val="121D36"/>
          </a:solidFill>
          <a:ln w="1905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2697480"/>
            <a:ext cx="566928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2834640"/>
            <a:ext cx="5303520" cy="33375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r>
              <a:rPr b="1" sz="1150">
                <a:solidFill>
                  <a:srgbClr val="00E5FF"/>
                </a:solidFill>
                <a:latin typeface="Segoe UI"/>
              </a:rPr>
              <a:t>THE REVOLUTIONARY CLINICAL BREAKTHROUGH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F1F5F9"/>
                </a:solidFill>
                <a:latin typeface="Segoe UI"/>
              </a:rPr>
              <a:t>One HP OmniBook X 14 laptop, powered by the Snapdragon X Elite SoC and its 45 TOPS Qualcomm Hexagon NPU HTP v73, replaces over $15,000 of discrete clinical equipment. 100% on-device AI. Zero cloud egress. DPDP Act 2023 compliant.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0B981"/>
                </a:solidFill>
                <a:latin typeface="Segoe UI"/>
              </a:rPr>
              <a:t>✓ Sub-15ms Multimodal Latency         </a:t>
            </a:r>
            <a:r>
              <a:rPr b="1" sz="950">
                <a:solidFill>
                  <a:srgbClr val="00E5FF"/>
                </a:solidFill>
                <a:latin typeface="Segoe UI"/>
              </a:rPr>
              <a:t>✓ 26+ Hours Off-Grid Battery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0B981"/>
                </a:solidFill>
                <a:latin typeface="Segoe UI"/>
              </a:rPr>
              <a:t>✓ DPDP Act 2023 Compliant             </a:t>
            </a:r>
            <a:r>
              <a:rPr b="1" sz="950">
                <a:solidFill>
                  <a:srgbClr val="00E5FF"/>
                </a:solidFill>
                <a:latin typeface="Segoe UI"/>
              </a:rPr>
              <a:t>✓ 82.9% Jan Aushadhi Savings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0B981"/>
                </a:solidFill>
                <a:latin typeface="Segoe UI"/>
              </a:rPr>
              <a:t>✓ 35/35 Quality Gates PASS            </a:t>
            </a:r>
            <a:r>
              <a:rPr b="1" sz="950">
                <a:solidFill>
                  <a:srgbClr val="00E5FF"/>
                </a:solidFill>
                <a:latin typeface="Segoe UI"/>
              </a:rPr>
              <a:t>✓ 100% Offline Standalone Resilience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66840" y="1455928"/>
            <a:ext cx="5155895" cy="2922415"/>
          </a:xfrm>
          <a:prstGeom prst="roundRect">
            <a:avLst/>
          </a:prstGeom>
          <a:solidFill>
            <a:srgbClr val="080D1A"/>
          </a:solidFill>
          <a:ln w="1524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481328"/>
            <a:ext cx="5105095" cy="2871615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6492240" y="4462671"/>
            <a:ext cx="5105095" cy="502920"/>
          </a:xfrm>
          <a:prstGeom prst="roundRect">
            <a:avLst/>
          </a:prstGeom>
          <a:solidFill>
            <a:srgbClr val="121D36"/>
          </a:solidFill>
          <a:ln w="1270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488071"/>
            <a:ext cx="5105095" cy="4521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b="1" sz="950">
                <a:solidFill>
                  <a:srgbClr val="00E5FF"/>
                </a:solidFill>
                <a:latin typeface="Segoe UI"/>
              </a:rPr>
              <a:t>Live Clinical Cockpit: 6 On-Device AI Diagnostic Engines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5075319"/>
            <a:ext cx="5105095" cy="1097280"/>
          </a:xfrm>
          <a:prstGeom prst="roundRect">
            <a:avLst/>
          </a:prstGeom>
          <a:solidFill>
            <a:srgbClr val="0C1428"/>
          </a:solidFill>
          <a:ln w="1524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5148471"/>
            <a:ext cx="4830775" cy="950976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b="1" sz="1000">
                <a:solidFill>
                  <a:srgbClr val="00E5FF"/>
                </a:solidFill>
                <a:latin typeface="Segoe UI"/>
              </a:rPr>
              <a:t>HARDWARE-AI CO-DESIGN TARGET ARCHITECTURE</a:t>
            </a:r>
          </a:p>
          <a:p>
            <a:pPr>
              <a:spcBef>
                <a:spcPts val="400"/>
              </a:spcBef>
            </a:pPr>
            <a:r>
              <a:rPr b="1" sz="900">
                <a:solidFill>
                  <a:srgbClr val="FFFFFF"/>
                </a:solidFill>
                <a:latin typeface="Segoe UI"/>
              </a:rPr>
              <a:t>⚡ Qualcomm Snapdragon® X Elite (12-Core Oryon) • 45.0 TOPS Hexagon NPU</a:t>
            </a:r>
          </a:p>
          <a:p>
            <a:pPr>
              <a:spcBef>
                <a:spcPts val="400"/>
              </a:spcBef>
            </a:pPr>
            <a:r>
              <a:rPr b="1" sz="900">
                <a:solidFill>
                  <a:srgbClr val="10B981"/>
                </a:solidFill>
                <a:latin typeface="Segoe UI"/>
              </a:rPr>
              <a:t>🔒 HP Wolf Security Hardware Enclave (AES-256-GCM) • 26+ Hours Battery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82296"/>
            <a:ext cx="5120640" cy="256032"/>
          </a:xfrm>
          <a:prstGeom prst="roundRect">
            <a:avLst/>
          </a:prstGeom>
          <a:solidFill>
            <a:srgbClr val="0C1428"/>
          </a:solidFill>
          <a:ln w="1270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2296"/>
            <a:ext cx="5120640" cy="256032"/>
          </a:xfrm>
          <a:prstGeom prst="rect">
            <a:avLst/>
          </a:prstGeom>
          <a:noFill/>
        </p:spPr>
        <p:txBody>
          <a:bodyPr wrap="square" lIns="101600" rIns="101600" tIns="38100" bIns="38100">
            <a:spAutoFit/>
          </a:bodyPr>
          <a:lstStyle/>
          <a:p>
            <a:pPr algn="ctr"/>
            <a:r>
              <a:rPr sz="850" b="1">
                <a:solidFill>
                  <a:srgbClr val="00E5FF"/>
                </a:solidFill>
                <a:latin typeface="Segoe UI"/>
              </a:rPr>
              <a:t>PROBLEM STATEMENT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08615" y="82296"/>
            <a:ext cx="1188720" cy="256032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08615" y="82296"/>
            <a:ext cx="1188720" cy="256032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SLIDE 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84048"/>
            <a:ext cx="11002975" cy="13716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8912"/>
            <a:ext cx="1100297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Segoe UI"/>
              </a:rPr>
              <a:t>India's Rural Healthcare Crisis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005840"/>
            <a:ext cx="1100297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00E5FF"/>
                </a:solidFill>
                <a:latin typeface="Segoe UI"/>
              </a:rPr>
              <a:t>600,000 Villages • 1 Doctor per 1,511 Citizens • Zero Specialist Diagnostics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73952"/>
            <a:ext cx="11002975" cy="13716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i="1">
                <a:solidFill>
                  <a:srgbClr val="94A3B8"/>
                </a:solidFill>
                <a:latin typeface="Segoe UI"/>
              </a:rPr>
              <a:t>OmniCare AI  |  Problem and Market  |  Slide 2 /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460" y="1481328"/>
            <a:ext cx="2674543" cy="1691640"/>
          </a:xfrm>
          <a:prstGeom prst="roundRect">
            <a:avLst/>
          </a:prstGeom>
          <a:solidFill>
            <a:srgbClr val="121D36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7860" y="1536192"/>
            <a:ext cx="2623743" cy="155448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b="1" sz="2400">
                <a:solidFill>
                  <a:srgbClr val="EF4444"/>
                </a:solidFill>
                <a:latin typeface="Segoe UI"/>
              </a:rPr>
              <a:t>1 : 1,511</a:t>
            </a:r>
          </a:p>
          <a:p>
            <a:pPr algn="ctr">
              <a:spcBef>
                <a:spcPts val="300"/>
              </a:spcBef>
            </a:pPr>
            <a:r>
              <a:rPr b="1" sz="1000">
                <a:solidFill>
                  <a:srgbClr val="FFFFFF"/>
                </a:solidFill>
                <a:latin typeface="Segoe UI"/>
              </a:rPr>
              <a:t>Doctor-to-citizen ratio</a:t>
            </a:r>
          </a:p>
          <a:p>
            <a:pPr algn="ctr">
              <a:spcBef>
                <a:spcPts val="200"/>
              </a:spcBef>
            </a:pPr>
            <a:r>
              <a:rPr i="1" sz="850">
                <a:solidFill>
                  <a:srgbClr val="CBD5E1"/>
                </a:solidFill>
                <a:latin typeface="Segoe UI"/>
              </a:rPr>
              <a:t>WHO minimum 1:1,000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03" y="1481328"/>
            <a:ext cx="2674543" cy="1691640"/>
          </a:xfrm>
          <a:prstGeom prst="roundRect">
            <a:avLst/>
          </a:prstGeom>
          <a:solidFill>
            <a:srgbClr val="121D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08603" y="1536192"/>
            <a:ext cx="2623743" cy="155448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b="1" sz="2400">
                <a:solidFill>
                  <a:srgbClr val="F59E0B"/>
                </a:solidFill>
                <a:latin typeface="Segoe UI"/>
              </a:rPr>
              <a:t>68%</a:t>
            </a:r>
          </a:p>
          <a:p>
            <a:pPr algn="ctr">
              <a:spcBef>
                <a:spcPts val="300"/>
              </a:spcBef>
            </a:pPr>
            <a:r>
              <a:rPr b="1" sz="1000">
                <a:solidFill>
                  <a:srgbClr val="FFFFFF"/>
                </a:solidFill>
                <a:latin typeface="Segoe UI"/>
              </a:rPr>
              <a:t>Rural population with no specialist access</a:t>
            </a:r>
          </a:p>
          <a:p>
            <a:pPr algn="ctr">
              <a:spcBef>
                <a:spcPts val="200"/>
              </a:spcBef>
            </a:pPr>
            <a:r>
              <a:rPr i="1" sz="850">
                <a:solidFill>
                  <a:srgbClr val="CBD5E1"/>
                </a:solidFill>
                <a:latin typeface="Segoe UI"/>
              </a:rPr>
              <a:t>600,000 villages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33946" y="1481328"/>
            <a:ext cx="2674543" cy="1691640"/>
          </a:xfrm>
          <a:prstGeom prst="roundRect">
            <a:avLst/>
          </a:prstGeom>
          <a:solidFill>
            <a:srgbClr val="121D36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9346" y="1536192"/>
            <a:ext cx="2623743" cy="155448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b="1" sz="2400">
                <a:solidFill>
                  <a:srgbClr val="EF4444"/>
                </a:solidFill>
                <a:latin typeface="Segoe UI"/>
              </a:rPr>
              <a:t>&gt;800 ms</a:t>
            </a:r>
          </a:p>
          <a:p>
            <a:pPr algn="ctr">
              <a:spcBef>
                <a:spcPts val="300"/>
              </a:spcBef>
            </a:pPr>
            <a:r>
              <a:rPr b="1" sz="1000">
                <a:solidFill>
                  <a:srgbClr val="FFFFFF"/>
                </a:solidFill>
                <a:latin typeface="Segoe UI"/>
              </a:rPr>
              <a:t>Cloud telemedicine roundtrip on 2G/4G</a:t>
            </a:r>
          </a:p>
          <a:p>
            <a:pPr algn="ctr">
              <a:spcBef>
                <a:spcPts val="200"/>
              </a:spcBef>
            </a:pPr>
            <a:r>
              <a:rPr i="1" sz="850">
                <a:solidFill>
                  <a:srgbClr val="CBD5E1"/>
                </a:solidFill>
                <a:latin typeface="Segoe UI"/>
              </a:rPr>
              <a:t>Causes missed diagnoses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84689" y="1481328"/>
            <a:ext cx="2674543" cy="1691640"/>
          </a:xfrm>
          <a:prstGeom prst="roundRect">
            <a:avLst/>
          </a:prstGeom>
          <a:solidFill>
            <a:srgbClr val="121D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0089" y="1536192"/>
            <a:ext cx="2623743" cy="155448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b="1" sz="2400">
                <a:solidFill>
                  <a:srgbClr val="F59E0B"/>
                </a:solidFill>
                <a:latin typeface="Segoe UI"/>
              </a:rPr>
              <a:t>$15,000+</a:t>
            </a:r>
          </a:p>
          <a:p>
            <a:pPr algn="ctr">
              <a:spcBef>
                <a:spcPts val="300"/>
              </a:spcBef>
            </a:pPr>
            <a:r>
              <a:rPr b="1" sz="1000">
                <a:solidFill>
                  <a:srgbClr val="FFFFFF"/>
                </a:solidFill>
                <a:latin typeface="Segoe UI"/>
              </a:rPr>
              <a:t>Cost of discrete hospital diagnostic cart</a:t>
            </a:r>
          </a:p>
          <a:p>
            <a:pPr algn="ctr">
              <a:spcBef>
                <a:spcPts val="200"/>
              </a:spcBef>
            </a:pPr>
            <a:r>
              <a:rPr i="1" sz="850">
                <a:solidFill>
                  <a:srgbClr val="CBD5E1"/>
                </a:solidFill>
                <a:latin typeface="Segoe UI"/>
              </a:rPr>
              <a:t>1 HP PC replaces all of 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310128"/>
            <a:ext cx="5364327" cy="3017520"/>
          </a:xfrm>
          <a:prstGeom prst="roundRect">
            <a:avLst/>
          </a:prstGeom>
          <a:solidFill>
            <a:srgbClr val="121D36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401568"/>
            <a:ext cx="4998567" cy="2834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b="1" sz="1200">
                <a:solidFill>
                  <a:srgbClr val="EF4444"/>
                </a:solidFill>
                <a:latin typeface="Segoe UI"/>
              </a:rPr>
              <a:t>THE FAILURE OF CLOUD TELEHEALTH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EF4444"/>
                </a:solidFill>
                <a:latin typeface="Segoe UI"/>
              </a:rPr>
              <a:t>• Connectivity Collapse: </a:t>
            </a:r>
            <a:r>
              <a:rPr sz="1000">
                <a:solidFill>
                  <a:srgbClr val="F1F5F9"/>
                </a:solidFill>
                <a:latin typeface="Segoe UI"/>
              </a:rPr>
              <a:t>Intermittent 2G/4G broadband causes catastrophic dropouts during acute episodes.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EF4444"/>
                </a:solidFill>
                <a:latin typeface="Segoe UI"/>
              </a:rPr>
              <a:t>• Legal Barrier: </a:t>
            </a:r>
            <a:r>
              <a:rPr sz="1000">
                <a:solidFill>
                  <a:srgbClr val="F1F5F9"/>
                </a:solidFill>
                <a:latin typeface="Segoe UI"/>
              </a:rPr>
              <a:t>India's DPDP Act 2023 prohibits unencrypted cloud uploads of patient biometrics.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EF4444"/>
                </a:solidFill>
                <a:latin typeface="Segoe UI"/>
              </a:rPr>
              <a:t>• Power Grid Failures: </a:t>
            </a:r>
            <a:r>
              <a:rPr sz="1000">
                <a:solidFill>
                  <a:srgbClr val="F1F5F9"/>
                </a:solidFill>
                <a:latin typeface="Segoe UI"/>
              </a:rPr>
              <a:t>Load-shedding eliminates AC-mains hospital equipment when needed most.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3007" y="3310128"/>
            <a:ext cx="5364327" cy="3017520"/>
          </a:xfrm>
          <a:prstGeom prst="roundRect">
            <a:avLst/>
          </a:prstGeom>
          <a:solidFill>
            <a:srgbClr val="121D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5887" y="3401568"/>
            <a:ext cx="4998567" cy="2834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b="1" sz="1200">
                <a:solidFill>
                  <a:srgbClr val="10B981"/>
                </a:solidFill>
                <a:latin typeface="Segoe UI"/>
              </a:rPr>
              <a:t>THE OMNICARE AI EDGE BREAKTHROUGH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0B981"/>
                </a:solidFill>
                <a:latin typeface="Segoe UI"/>
              </a:rPr>
              <a:t>• 100% On-Device: </a:t>
            </a:r>
            <a:r>
              <a:rPr sz="1000">
                <a:solidFill>
                  <a:srgbClr val="F1F5F9"/>
                </a:solidFill>
                <a:latin typeface="Segoe UI"/>
              </a:rPr>
              <a:t>Sub-15ms inference across 6 modalities with zero internet connection required.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0B981"/>
                </a:solidFill>
                <a:latin typeface="Segoe UI"/>
              </a:rPr>
              <a:t>• Absolute Data Sovereignty: </a:t>
            </a:r>
            <a:r>
              <a:rPr sz="1000">
                <a:solidFill>
                  <a:srgbClr val="F1F5F9"/>
                </a:solidFill>
                <a:latin typeface="Segoe UI"/>
              </a:rPr>
              <a:t>All biometric embeddings stay locked in local HP Wolf Security enclave.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0B981"/>
                </a:solidFill>
                <a:latin typeface="Segoe UI"/>
              </a:rPr>
              <a:t>• 26+ Hours Battery: </a:t>
            </a:r>
            <a:r>
              <a:rPr sz="1000">
                <a:solidFill>
                  <a:srgbClr val="F1F5F9"/>
                </a:solidFill>
                <a:latin typeface="Segoe UI"/>
              </a:rPr>
              <a:t>Off-grid endurance enables multi-day rural health camps on a single charge.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82296"/>
            <a:ext cx="5120640" cy="256032"/>
          </a:xfrm>
          <a:prstGeom prst="roundRect">
            <a:avLst/>
          </a:prstGeom>
          <a:solidFill>
            <a:srgbClr val="0C1428"/>
          </a:solidFill>
          <a:ln w="1270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2296"/>
            <a:ext cx="5120640" cy="256032"/>
          </a:xfrm>
          <a:prstGeom prst="rect">
            <a:avLst/>
          </a:prstGeom>
          <a:noFill/>
        </p:spPr>
        <p:txBody>
          <a:bodyPr wrap="square" lIns="101600" rIns="101600" tIns="38100" bIns="38100">
            <a:spAutoFit/>
          </a:bodyPr>
          <a:lstStyle/>
          <a:p>
            <a:pPr algn="ctr"/>
            <a:r>
              <a:rPr sz="850" b="1">
                <a:solidFill>
                  <a:srgbClr val="00E5FF"/>
                </a:solidFill>
                <a:latin typeface="Segoe UI"/>
              </a:rPr>
              <a:t>HARDWARE-AI CO-DESIGN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08615" y="82296"/>
            <a:ext cx="1188720" cy="256032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08615" y="82296"/>
            <a:ext cx="1188720" cy="256032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SLIDE 03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84048"/>
            <a:ext cx="11002975" cy="13716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8912"/>
            <a:ext cx="1100297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Segoe UI"/>
              </a:rPr>
              <a:t>Snapdragon X Elite + HP OmniBook X 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005840"/>
            <a:ext cx="1100297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00E5FF"/>
                </a:solidFill>
                <a:latin typeface="Segoe UI"/>
              </a:rPr>
              <a:t>Hardware-AI Co-Design Engineered for Field Clinical Reliability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73952"/>
            <a:ext cx="11002975" cy="13716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i="1">
                <a:solidFill>
                  <a:srgbClr val="94A3B8"/>
                </a:solidFill>
                <a:latin typeface="Segoe UI"/>
              </a:rPr>
              <a:t>OmniCare AI  |  Hardware-AI Co-Design  |  Slide 3 / 12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94360" y="1481328"/>
          <a:ext cx="70408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3383280"/>
              </a:tblGrid>
              <a:tr h="666205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Segoe UI"/>
                        </a:rPr>
                        <a:t>Hardware Component</a:t>
                      </a:r>
                    </a:p>
                  </a:txBody>
                  <a:tcPr anchor="ctr" marL="76200" marR="76200" marT="50800" marB="50800">
                    <a:solidFill>
                      <a:srgbClr val="005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Segoe UI"/>
                        </a:rPr>
                        <a:t>Specification</a:t>
                      </a:r>
                    </a:p>
                  </a:txBody>
                  <a:tcPr anchor="ctr" marL="76200" marR="76200" marT="50800" marB="50800">
                    <a:solidFill>
                      <a:srgbClr val="005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Segoe UI"/>
                        </a:rPr>
                        <a:t>OmniCare AI Benefit</a:t>
                      </a:r>
                    </a:p>
                  </a:txBody>
                  <a:tcPr anchor="ctr" marL="76200" marR="76200" marT="50800" marB="50800">
                    <a:solidFill>
                      <a:srgbClr val="0052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Qualcomm Hexagon NPU</a:t>
                      </a:r>
                    </a:p>
                  </a:txBody>
                  <a:tcPr anchor="ctr" marL="76200" marR="762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CBD5E1"/>
                          </a:solidFill>
                          <a:latin typeface="Segoe UI"/>
                        </a:rPr>
                        <a:t>45.0 TOPS HTP v73 (INT8/INT4)</a:t>
                      </a:r>
                    </a:p>
                  </a:txBody>
                  <a:tcPr anchor="ctr" marL="76200" marR="762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Segoe UI"/>
                        </a:rPr>
                        <a:t>Sub-15ms inference across all 6 diagnostic AI models</a:t>
                      </a:r>
                    </a:p>
                  </a:txBody>
                  <a:tcPr anchor="ctr" marL="76200" marR="76200" marT="50800" marB="50800">
                    <a:solidFill>
                      <a:srgbClr val="121D36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Snapdragon X Elite SoC</a:t>
                      </a:r>
                    </a:p>
                  </a:txBody>
                  <a:tcPr anchor="ctr" marL="76200" marR="76200" marT="50800" marB="50800">
                    <a:solidFill>
                      <a:srgbClr val="172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CBD5E1"/>
                          </a:solidFill>
                          <a:latin typeface="Segoe UI"/>
                        </a:rPr>
                        <a:t>12-core Oryon 4.0 GHz</a:t>
                      </a:r>
                    </a:p>
                  </a:txBody>
                  <a:tcPr anchor="ctr" marL="76200" marR="76200" marT="50800" marB="50800">
                    <a:solidFill>
                      <a:srgbClr val="172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Segoe UI"/>
                        </a:rPr>
                        <a:t>FastAPI async concurrency; multithreaded DSP signal chains</a:t>
                      </a:r>
                    </a:p>
                  </a:txBody>
                  <a:tcPr anchor="ctr" marL="76200" marR="76200" marT="50800" marB="50800">
                    <a:solidFill>
                      <a:srgbClr val="172445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HP Smart Sense Governor</a:t>
                      </a:r>
                    </a:p>
                  </a:txBody>
                  <a:tcPr anchor="ctr" marL="76200" marR="762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CBD5E1"/>
                          </a:solidFill>
                          <a:latin typeface="Segoe UI"/>
                        </a:rPr>
                        <a:t>Performance / Balanced / Eco</a:t>
                      </a:r>
                    </a:p>
                  </a:txBody>
                  <a:tcPr anchor="ctr" marL="76200" marR="762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Segoe UI"/>
                        </a:rPr>
                        <a:t>Performance (45T) | Balanced (32T) | Eco (20T / 26+ hrs)</a:t>
                      </a:r>
                    </a:p>
                  </a:txBody>
                  <a:tcPr anchor="ctr" marL="76200" marR="76200" marT="50800" marB="50800">
                    <a:solidFill>
                      <a:srgbClr val="121D36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HP Poly Studio Mics</a:t>
                      </a:r>
                    </a:p>
                  </a:txBody>
                  <a:tcPr anchor="ctr" marL="76200" marR="76200" marT="50800" marB="50800">
                    <a:solidFill>
                      <a:srgbClr val="172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CBD5E1"/>
                          </a:solidFill>
                          <a:latin typeface="Segoe UI"/>
                        </a:rPr>
                        <a:t>Dual beamforming array</a:t>
                      </a:r>
                    </a:p>
                  </a:txBody>
                  <a:tcPr anchor="ctr" marL="76200" marR="76200" marT="50800" marB="50800">
                    <a:solidFill>
                      <a:srgbClr val="172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Segoe UI"/>
                        </a:rPr>
                        <a:t>38.4 dB bell-friction suppression for silent stethoscopy</a:t>
                      </a:r>
                    </a:p>
                  </a:txBody>
                  <a:tcPr anchor="ctr" marL="76200" marR="76200" marT="50800" marB="50800">
                    <a:solidFill>
                      <a:srgbClr val="172445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HP True Vision 5MP IR</a:t>
                      </a:r>
                    </a:p>
                  </a:txBody>
                  <a:tcPr anchor="ctr" marL="76200" marR="762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CBD5E1"/>
                          </a:solidFill>
                          <a:latin typeface="Segoe UI"/>
                        </a:rPr>
                        <a:t>60 FPS IR global shutter</a:t>
                      </a:r>
                    </a:p>
                  </a:txBody>
                  <a:tcPr anchor="ctr" marL="76200" marR="762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Segoe UI"/>
                        </a:rPr>
                        <a:t>rPPG vitals (HR, SpO2, RR, Shock Index) - contactless</a:t>
                      </a:r>
                    </a:p>
                  </a:txBody>
                  <a:tcPr anchor="ctr" marL="76200" marR="76200" marT="50800" marB="50800">
                    <a:solidFill>
                      <a:srgbClr val="121D36"/>
                    </a:solidFill>
                  </a:tcPr>
                </a:tc>
              </a:tr>
              <a:tr h="66621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Battery Subsystem</a:t>
                      </a:r>
                    </a:p>
                  </a:txBody>
                  <a:tcPr anchor="ctr" marL="76200" marR="76200" marT="50800" marB="50800">
                    <a:solidFill>
                      <a:srgbClr val="172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CBD5E1"/>
                          </a:solidFill>
                          <a:latin typeface="Segoe UI"/>
                        </a:rPr>
                        <a:t>3-cell 59 Wh (Eco mode)</a:t>
                      </a:r>
                    </a:p>
                  </a:txBody>
                  <a:tcPr anchor="ctr" marL="76200" marR="76200" marT="50800" marB="50800">
                    <a:solidFill>
                      <a:srgbClr val="172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Segoe UI"/>
                        </a:rPr>
                        <a:t>26+ hours continuous off-grid clinical operation</a:t>
                      </a:r>
                    </a:p>
                  </a:txBody>
                  <a:tcPr anchor="ctr" marL="76200" marR="76200" marT="50800" marB="50800">
                    <a:solidFill>
                      <a:srgbClr val="172445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7838440" y="1455928"/>
            <a:ext cx="3784295" cy="342479"/>
          </a:xfrm>
          <a:prstGeom prst="roundRect">
            <a:avLst/>
          </a:prstGeom>
          <a:solidFill>
            <a:srgbClr val="080D1A"/>
          </a:solidFill>
          <a:ln w="1270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hot_h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481328"/>
            <a:ext cx="3733495" cy="291679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863840" y="2468880"/>
            <a:ext cx="3733495" cy="3675887"/>
          </a:xfrm>
          <a:prstGeom prst="roundRect">
            <a:avLst/>
          </a:prstGeom>
          <a:solidFill>
            <a:srgbClr val="121D36"/>
          </a:solidFill>
          <a:ln w="1905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2" y="2578608"/>
            <a:ext cx="3404311" cy="3456431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b="1" sz="1100">
                <a:solidFill>
                  <a:srgbClr val="00E5FF"/>
                </a:solidFill>
                <a:latin typeface="Segoe UI"/>
              </a:rPr>
              <a:t>HP SMART SENSE DYNAMIC PROFILES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FFFFF"/>
                </a:solidFill>
                <a:latin typeface="Segoe UI"/>
              </a:rPr>
              <a:t>Performance Mode (45 TOPS): </a:t>
            </a:r>
            <a:r>
              <a:rPr sz="900">
                <a:solidFill>
                  <a:srgbClr val="CBD5E1"/>
                </a:solidFill>
                <a:latin typeface="Segoe UI"/>
              </a:rPr>
              <a:t>Maximum NPU throughput for emergency STEMI &amp; arrhythmia digitization.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FFFFF"/>
                </a:solidFill>
                <a:latin typeface="Segoe UI"/>
              </a:rPr>
              <a:t>Balanced Mode (32 TOPS): </a:t>
            </a:r>
            <a:r>
              <a:rPr sz="900">
                <a:solidFill>
                  <a:srgbClr val="CBD5E1"/>
                </a:solidFill>
                <a:latin typeface="Segoe UI"/>
              </a:rPr>
              <a:t>Optimal clinical day workload with whisper-quiet fan operation.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FFFFF"/>
                </a:solidFill>
                <a:latin typeface="Segoe UI"/>
              </a:rPr>
              <a:t>Eco Mode (20 TOPS / 26+ hrs): </a:t>
            </a:r>
            <a:r>
              <a:rPr sz="900">
                <a:solidFill>
                  <a:srgbClr val="CBD5E1"/>
                </a:solidFill>
                <a:latin typeface="Segoe UI"/>
              </a:rPr>
              <a:t>26+ hours off-grid battery endurance for remote primary care camps.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FFFFF"/>
                </a:solidFill>
                <a:latin typeface="Segoe UI"/>
              </a:rPr>
              <a:t>Acoustic Floor &lt;20 dBA: </a:t>
            </a:r>
            <a:r>
              <a:rPr sz="900">
                <a:solidFill>
                  <a:srgbClr val="CBD5E1"/>
                </a:solidFill>
                <a:latin typeface="Segoe UI"/>
              </a:rPr>
              <a:t>Silent fan profile eliminates microphone interference during stethoscopy.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82296"/>
            <a:ext cx="5120640" cy="256032"/>
          </a:xfrm>
          <a:prstGeom prst="roundRect">
            <a:avLst/>
          </a:prstGeom>
          <a:solidFill>
            <a:srgbClr val="0C1428"/>
          </a:solidFill>
          <a:ln w="1270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2296"/>
            <a:ext cx="5120640" cy="256032"/>
          </a:xfrm>
          <a:prstGeom prst="rect">
            <a:avLst/>
          </a:prstGeom>
          <a:noFill/>
        </p:spPr>
        <p:txBody>
          <a:bodyPr wrap="square" lIns="101600" rIns="101600" tIns="38100" bIns="38100">
            <a:spAutoFit/>
          </a:bodyPr>
          <a:lstStyle/>
          <a:p>
            <a:pPr algn="ctr"/>
            <a:r>
              <a:rPr sz="850" b="1">
                <a:solidFill>
                  <a:srgbClr val="00E5FF"/>
                </a:solidFill>
                <a:latin typeface="Segoe UI"/>
              </a:rPr>
              <a:t>CLINICAL INTERFACE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08615" y="82296"/>
            <a:ext cx="1188720" cy="256032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08615" y="82296"/>
            <a:ext cx="1188720" cy="256032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SLIDE 04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84048"/>
            <a:ext cx="11002975" cy="13716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8912"/>
            <a:ext cx="1100297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Segoe UI"/>
              </a:rPr>
              <a:t>The Futuristic Clinical Cockpit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005840"/>
            <a:ext cx="1100297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00E5FF"/>
                </a:solidFill>
                <a:latin typeface="Segoe UI"/>
              </a:rPr>
              <a:t>6 Simultaneous Diagnostic Modalities Running at Sub-15ms on 45 TOPS Hexagon NPU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73952"/>
            <a:ext cx="11002975" cy="13716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i="1">
                <a:solidFill>
                  <a:srgbClr val="94A3B8"/>
                </a:solidFill>
                <a:latin typeface="Segoe UI"/>
              </a:rPr>
              <a:t>OmniCare AI  |  Live Clinical Cockpit  |  Slide 4 /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8960" y="1455928"/>
            <a:ext cx="7000240" cy="3959860"/>
          </a:xfrm>
          <a:prstGeom prst="roundRect">
            <a:avLst/>
          </a:prstGeom>
          <a:solidFill>
            <a:srgbClr val="080D1A"/>
          </a:solidFill>
          <a:ln w="1905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81328"/>
            <a:ext cx="6949440" cy="390906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94360" y="5481828"/>
            <a:ext cx="6949440" cy="777240"/>
          </a:xfrm>
          <a:prstGeom prst="roundRect">
            <a:avLst/>
          </a:prstGeom>
          <a:solidFill>
            <a:srgbClr val="121D36"/>
          </a:solidFill>
          <a:ln w="1524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536692"/>
            <a:ext cx="6675120" cy="66751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b="1" sz="1100">
                <a:solidFill>
                  <a:srgbClr val="00E5FF"/>
                </a:solidFill>
                <a:latin typeface="Segoe UI"/>
              </a:rPr>
              <a:t>Live Clinical Cockpit: 6 Concurrent On-Device AI Diagnostic Engines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10B981"/>
                </a:solidFill>
                <a:latin typeface="Segoe UI"/>
              </a:rPr>
              <a:t>Snapdragon® X Elite 45 TOPS Hexagon NPU  •  HP Smart Sense Governor  •  100% Offline Edge Resilience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1481328"/>
            <a:ext cx="3824935" cy="1051560"/>
          </a:xfrm>
          <a:prstGeom prst="roundRect">
            <a:avLst/>
          </a:prstGeom>
          <a:solidFill>
            <a:srgbClr val="121D36"/>
          </a:solidFill>
          <a:ln w="1524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0" y="1481328"/>
            <a:ext cx="73152" cy="1051560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18704" y="1554480"/>
            <a:ext cx="3587191" cy="905256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b="1" sz="1100">
                <a:solidFill>
                  <a:srgbClr val="00E5FF"/>
                </a:solidFill>
                <a:latin typeface="Segoe UI"/>
              </a:rPr>
              <a:t>Top HUD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1F5F9"/>
                </a:solidFill>
                <a:latin typeface="Segoe UI"/>
              </a:rPr>
              <a:t>Real-Time Hexagon Telemetry, Profile Governor &amp; ABHA ID Linkage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2660904"/>
            <a:ext cx="3824935" cy="1051560"/>
          </a:xfrm>
          <a:prstGeom prst="roundRect">
            <a:avLst/>
          </a:prstGeom>
          <a:solidFill>
            <a:srgbClr val="121D36"/>
          </a:solidFill>
          <a:ln w="1524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0" y="2660904"/>
            <a:ext cx="73152" cy="1051560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18704" y="2734056"/>
            <a:ext cx="3587191" cy="905256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b="1" sz="1100">
                <a:solidFill>
                  <a:srgbClr val="00E5FF"/>
                </a:solidFill>
                <a:latin typeface="Segoe UI"/>
              </a:rPr>
              <a:t>Vision AI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1F5F9"/>
                </a:solidFill>
                <a:latin typeface="Segoe UI"/>
              </a:rPr>
              <a:t>Melanin-Calibrated Dermoscopy &amp; Retinal Fundus Screening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3840480"/>
            <a:ext cx="3824935" cy="1051560"/>
          </a:xfrm>
          <a:prstGeom prst="roundRect">
            <a:avLst/>
          </a:prstGeom>
          <a:solidFill>
            <a:srgbClr val="121D36"/>
          </a:solidFill>
          <a:ln w="1524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0" y="3840480"/>
            <a:ext cx="73152" cy="1051560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18704" y="3913632"/>
            <a:ext cx="3587191" cy="905256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b="1" sz="1100">
                <a:solidFill>
                  <a:srgbClr val="00E5FF"/>
                </a:solidFill>
                <a:latin typeface="Segoe UI"/>
              </a:rPr>
              <a:t>Audio &amp; Vitals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1F5F9"/>
                </a:solidFill>
                <a:latin typeface="Segoe UI"/>
              </a:rPr>
              <a:t>HP Poly Studio Stethoscopy &amp; Contactless 60 FPS rPPG Pulse Wave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5020056"/>
            <a:ext cx="3824935" cy="1051560"/>
          </a:xfrm>
          <a:prstGeom prst="roundRect">
            <a:avLst/>
          </a:prstGeom>
          <a:solidFill>
            <a:srgbClr val="121D36"/>
          </a:solidFill>
          <a:ln w="1524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0" y="5020056"/>
            <a:ext cx="73152" cy="1051560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18704" y="5093208"/>
            <a:ext cx="3587191" cy="905256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b="1" sz="1100">
                <a:solidFill>
                  <a:srgbClr val="00E5FF"/>
                </a:solidFill>
                <a:latin typeface="Segoe UI"/>
              </a:rPr>
              <a:t>Cardiology &amp; NLP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1F5F9"/>
                </a:solidFill>
                <a:latin typeface="Segoe UI"/>
              </a:rPr>
              <a:t>12-Lead Calibrated ECG Digitizer &amp; Llama-3.2 SOAP Note Scribing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82296"/>
            <a:ext cx="5120640" cy="256032"/>
          </a:xfrm>
          <a:prstGeom prst="roundRect">
            <a:avLst/>
          </a:prstGeom>
          <a:solidFill>
            <a:srgbClr val="0C1428"/>
          </a:solidFill>
          <a:ln w="1270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2296"/>
            <a:ext cx="5120640" cy="256032"/>
          </a:xfrm>
          <a:prstGeom prst="rect">
            <a:avLst/>
          </a:prstGeom>
          <a:noFill/>
        </p:spPr>
        <p:txBody>
          <a:bodyPr wrap="square" lIns="101600" rIns="101600" tIns="38100" bIns="38100">
            <a:spAutoFit/>
          </a:bodyPr>
          <a:lstStyle/>
          <a:p>
            <a:pPr algn="ctr"/>
            <a:r>
              <a:rPr sz="850" b="1">
                <a:solidFill>
                  <a:srgbClr val="00E5FF"/>
                </a:solidFill>
                <a:latin typeface="Segoe UI"/>
              </a:rPr>
              <a:t>MULTIMODAL AI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08615" y="82296"/>
            <a:ext cx="1188720" cy="256032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08615" y="82296"/>
            <a:ext cx="1188720" cy="256032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SLIDE 05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84048"/>
            <a:ext cx="11002975" cy="13716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8912"/>
            <a:ext cx="1100297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Segoe UI"/>
              </a:rPr>
              <a:t>6 Multimodal Diagnostic AI Engines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005840"/>
            <a:ext cx="1100297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00E5FF"/>
                </a:solidFill>
                <a:latin typeface="Segoe UI"/>
              </a:rPr>
              <a:t>Zero Cloud Egress • Sub-15ms Local Inference on Snapdragon Hexagon NPU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73952"/>
            <a:ext cx="11002975" cy="13716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i="1">
                <a:solidFill>
                  <a:srgbClr val="94A3B8"/>
                </a:solidFill>
                <a:latin typeface="Segoe UI"/>
              </a:rPr>
              <a:t>OmniCare AI  |  6 Diagnostic AI Engines  |  Slide 5 / 12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94360" y="1481328"/>
          <a:ext cx="68580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645920"/>
                <a:gridCol w="777240"/>
                <a:gridCol w="868680"/>
                <a:gridCol w="2011680"/>
              </a:tblGrid>
              <a:tr h="666205"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FFFFFF"/>
                          </a:solidFill>
                          <a:latin typeface="Segoe UI"/>
                        </a:rPr>
                        <a:t>Modality</a:t>
                      </a:r>
                    </a:p>
                  </a:txBody>
                  <a:tcPr anchor="ctr" marL="63500" marR="63500" marT="50800" marB="50800">
                    <a:solidFill>
                      <a:srgbClr val="005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FFFFFF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anchor="ctr" marL="63500" marR="63500" marT="50800" marB="50800">
                    <a:solidFill>
                      <a:srgbClr val="005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FFFFFF"/>
                          </a:solidFill>
                          <a:latin typeface="Segoe UI"/>
                        </a:rPr>
                        <a:t>Precision</a:t>
                      </a:r>
                    </a:p>
                  </a:txBody>
                  <a:tcPr anchor="ctr" marL="63500" marR="63500" marT="50800" marB="50800">
                    <a:solidFill>
                      <a:srgbClr val="005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FFFFFF"/>
                          </a:solidFill>
                          <a:latin typeface="Segoe UI"/>
                        </a:rPr>
                        <a:t>Latency</a:t>
                      </a:r>
                    </a:p>
                  </a:txBody>
                  <a:tcPr anchor="ctr" marL="63500" marR="63500" marT="50800" marB="50800">
                    <a:solidFill>
                      <a:srgbClr val="005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FFFFFF"/>
                          </a:solidFill>
                          <a:latin typeface="Segoe UI"/>
                        </a:rPr>
                        <a:t>Clinical Output</a:t>
                      </a:r>
                    </a:p>
                  </a:txBody>
                  <a:tcPr anchor="ctr" marL="63500" marR="63500" marT="50800" marB="50800">
                    <a:solidFill>
                      <a:srgbClr val="0052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Dermatology &amp; Retina</a:t>
                      </a:r>
                    </a:p>
                  </a:txBody>
                  <a:tcPr anchor="ctr" marL="63500" marR="635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  <a:latin typeface="Segoe UI"/>
                        </a:rPr>
                        <a:t>YOLOv8-Seg + ResNet-50</a:t>
                      </a:r>
                    </a:p>
                  </a:txBody>
                  <a:tcPr anchor="ctr" marL="63500" marR="635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0E5FF"/>
                          </a:solidFill>
                          <a:latin typeface="Segoe UI"/>
                        </a:rPr>
                        <a:t>INT8</a:t>
                      </a:r>
                    </a:p>
                  </a:txBody>
                  <a:tcPr anchor="ctr" marL="63500" marR="635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0B981"/>
                          </a:solidFill>
                          <a:latin typeface="Segoe UI"/>
                        </a:rPr>
                        <a:t>9.4 ms</a:t>
                      </a:r>
                    </a:p>
                  </a:txBody>
                  <a:tcPr anchor="ctr" marL="63500" marR="635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  <a:latin typeface="Segoe UI"/>
                        </a:rPr>
                        <a:t>ABCD score, Monk MST bias-fix, DR staging</a:t>
                      </a:r>
                    </a:p>
                  </a:txBody>
                  <a:tcPr anchor="ctr" marL="63500" marR="63500" marT="50800" marB="50800">
                    <a:solidFill>
                      <a:srgbClr val="121D36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Pulmonary Stethoscopy</a:t>
                      </a:r>
                    </a:p>
                  </a:txBody>
                  <a:tcPr anchor="ctr" marL="63500" marR="63500" marT="50800" marB="50800">
                    <a:solidFill>
                      <a:srgbClr val="172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  <a:latin typeface="Segoe UI"/>
                        </a:rPr>
                        <a:t>YAMNet + HP Poly Studio</a:t>
                      </a:r>
                    </a:p>
                  </a:txBody>
                  <a:tcPr anchor="ctr" marL="63500" marR="63500" marT="50800" marB="50800">
                    <a:solidFill>
                      <a:srgbClr val="172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0E5FF"/>
                          </a:solidFill>
                          <a:latin typeface="Segoe UI"/>
                        </a:rPr>
                        <a:t>INT8</a:t>
                      </a:r>
                    </a:p>
                  </a:txBody>
                  <a:tcPr anchor="ctr" marL="63500" marR="63500" marT="50800" marB="50800">
                    <a:solidFill>
                      <a:srgbClr val="172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0B981"/>
                          </a:solidFill>
                          <a:latin typeface="Segoe UI"/>
                        </a:rPr>
                        <a:t>7.1 ms</a:t>
                      </a:r>
                    </a:p>
                  </a:txBody>
                  <a:tcPr anchor="ctr" marL="63500" marR="63500" marT="50800" marB="50800">
                    <a:solidFill>
                      <a:srgbClr val="172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  <a:latin typeface="Segoe UI"/>
                        </a:rPr>
                        <a:t>Wheeze/Crackle/Stridor; 38.4 dB suppression</a:t>
                      </a:r>
                    </a:p>
                  </a:txBody>
                  <a:tcPr anchor="ctr" marL="63500" marR="63500" marT="50800" marB="50800">
                    <a:solidFill>
                      <a:srgbClr val="172445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Voice Dictation</a:t>
                      </a:r>
                    </a:p>
                  </a:txBody>
                  <a:tcPr anchor="ctr" marL="63500" marR="635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  <a:latin typeface="Segoe UI"/>
                        </a:rPr>
                        <a:t>Whisper-Small</a:t>
                      </a:r>
                    </a:p>
                  </a:txBody>
                  <a:tcPr anchor="ctr" marL="63500" marR="635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0E5FF"/>
                          </a:solidFill>
                          <a:latin typeface="Segoe UI"/>
                        </a:rPr>
                        <a:t>INT8</a:t>
                      </a:r>
                    </a:p>
                  </a:txBody>
                  <a:tcPr anchor="ctr" marL="63500" marR="635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0B981"/>
                          </a:solidFill>
                          <a:latin typeface="Segoe UI"/>
                        </a:rPr>
                        <a:t>12.8 ms</a:t>
                      </a:r>
                    </a:p>
                  </a:txBody>
                  <a:tcPr anchor="ctr" marL="63500" marR="635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  <a:latin typeface="Segoe UI"/>
                        </a:rPr>
                        <a:t>Indian-accent medical STT; real-time</a:t>
                      </a:r>
                    </a:p>
                  </a:txBody>
                  <a:tcPr anchor="ctr" marL="63500" marR="63500" marT="50800" marB="50800">
                    <a:solidFill>
                      <a:srgbClr val="121D36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SOAP Note Scribe</a:t>
                      </a:r>
                    </a:p>
                  </a:txBody>
                  <a:tcPr anchor="ctr" marL="63500" marR="63500" marT="50800" marB="50800">
                    <a:solidFill>
                      <a:srgbClr val="172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  <a:latin typeface="Segoe UI"/>
                        </a:rPr>
                        <a:t>Llama-3.2-3B Instruct</a:t>
                      </a:r>
                    </a:p>
                  </a:txBody>
                  <a:tcPr anchor="ctr" marL="63500" marR="63500" marT="50800" marB="50800">
                    <a:solidFill>
                      <a:srgbClr val="172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0E5FF"/>
                          </a:solidFill>
                          <a:latin typeface="Segoe UI"/>
                        </a:rPr>
                        <a:t>INT4</a:t>
                      </a:r>
                    </a:p>
                  </a:txBody>
                  <a:tcPr anchor="ctr" marL="63500" marR="63500" marT="50800" marB="50800">
                    <a:solidFill>
                      <a:srgbClr val="172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0B981"/>
                          </a:solidFill>
                          <a:latin typeface="Segoe UI"/>
                        </a:rPr>
                        <a:t>34.2 tok/s</a:t>
                      </a:r>
                    </a:p>
                  </a:txBody>
                  <a:tcPr anchor="ctr" marL="63500" marR="63500" marT="50800" marB="50800">
                    <a:solidFill>
                      <a:srgbClr val="172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  <a:latin typeface="Segoe UI"/>
                        </a:rPr>
                        <a:t>Structured SOAP + WHO ICD-10-CM coding</a:t>
                      </a:r>
                    </a:p>
                  </a:txBody>
                  <a:tcPr anchor="ctr" marL="63500" marR="63500" marT="50800" marB="50800">
                    <a:solidFill>
                      <a:srgbClr val="172445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rPPG Vitals</a:t>
                      </a:r>
                    </a:p>
                  </a:txBody>
                  <a:tcPr anchor="ctr" marL="63500" marR="635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  <a:latin typeface="Segoe UI"/>
                        </a:rPr>
                        <a:t>POS-Net + True Vision</a:t>
                      </a:r>
                    </a:p>
                  </a:txBody>
                  <a:tcPr anchor="ctr" marL="63500" marR="635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0E5FF"/>
                          </a:solidFill>
                          <a:latin typeface="Segoe UI"/>
                        </a:rPr>
                        <a:t>INT8</a:t>
                      </a:r>
                    </a:p>
                  </a:txBody>
                  <a:tcPr anchor="ctr" marL="63500" marR="635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0B981"/>
                          </a:solidFill>
                          <a:latin typeface="Segoe UI"/>
                        </a:rPr>
                        <a:t>8.2 ms</a:t>
                      </a:r>
                    </a:p>
                  </a:txBody>
                  <a:tcPr anchor="ctr" marL="63500" marR="635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  <a:latin typeface="Segoe UI"/>
                        </a:rPr>
                        <a:t>HR, SpO2%, RR, Shock Index - contactless</a:t>
                      </a:r>
                    </a:p>
                  </a:txBody>
                  <a:tcPr anchor="ctr" marL="63500" marR="63500" marT="50800" marB="50800">
                    <a:solidFill>
                      <a:srgbClr val="121D36"/>
                    </a:solidFill>
                  </a:tcPr>
                </a:tc>
              </a:tr>
              <a:tr h="66621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12-Lead Paper ECG</a:t>
                      </a:r>
                    </a:p>
                  </a:txBody>
                  <a:tcPr anchor="ctr" marL="63500" marR="63500" marT="50800" marB="50800">
                    <a:solidFill>
                      <a:srgbClr val="172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  <a:latin typeface="Segoe UI"/>
                        </a:rPr>
                        <a:t>Optical Grid + PTB-XL</a:t>
                      </a:r>
                    </a:p>
                  </a:txBody>
                  <a:tcPr anchor="ctr" marL="63500" marR="63500" marT="50800" marB="50800">
                    <a:solidFill>
                      <a:srgbClr val="172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0E5FF"/>
                          </a:solidFill>
                          <a:latin typeface="Segoe UI"/>
                        </a:rPr>
                        <a:t>INT8</a:t>
                      </a:r>
                    </a:p>
                  </a:txBody>
                  <a:tcPr anchor="ctr" marL="63500" marR="63500" marT="50800" marB="50800">
                    <a:solidFill>
                      <a:srgbClr val="172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0B981"/>
                          </a:solidFill>
                          <a:latin typeface="Segoe UI"/>
                        </a:rPr>
                        <a:t>6.8 ms</a:t>
                      </a:r>
                    </a:p>
                  </a:txBody>
                  <a:tcPr anchor="ctr" marL="63500" marR="63500" marT="50800" marB="50800">
                    <a:solidFill>
                      <a:srgbClr val="172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  <a:latin typeface="Segoe UI"/>
                        </a:rPr>
                        <a:t>STEMI/AFib/PVC + PR/QRS/QTc intervals</a:t>
                      </a:r>
                    </a:p>
                  </a:txBody>
                  <a:tcPr anchor="ctr" marL="63500" marR="63500" marT="50800" marB="50800">
                    <a:solidFill>
                      <a:srgbClr val="172445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7655560" y="1455928"/>
            <a:ext cx="3967175" cy="3241631"/>
          </a:xfrm>
          <a:prstGeom prst="roundRect">
            <a:avLst/>
          </a:prstGeom>
          <a:solidFill>
            <a:srgbClr val="080D1A"/>
          </a:solidFill>
          <a:ln w="1524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modalities_2x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481328"/>
            <a:ext cx="3916375" cy="3190831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680960" y="4745311"/>
            <a:ext cx="3916375" cy="438912"/>
          </a:xfrm>
          <a:prstGeom prst="roundRect">
            <a:avLst/>
          </a:prstGeom>
          <a:solidFill>
            <a:srgbClr val="121D36"/>
          </a:solidFill>
          <a:ln w="1270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4770711"/>
            <a:ext cx="3916375" cy="388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850">
                <a:solidFill>
                  <a:srgbClr val="00E5FF"/>
                </a:solidFill>
                <a:latin typeface="Segoe UI"/>
              </a:rPr>
              <a:t>Live Inference: Melanin-Calibrated Dermoscopy, 12-Lead ECG, 60 FPS rPPG &amp; Stethoscopy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82296"/>
            <a:ext cx="5120640" cy="256032"/>
          </a:xfrm>
          <a:prstGeom prst="roundRect">
            <a:avLst/>
          </a:prstGeom>
          <a:solidFill>
            <a:srgbClr val="0C1428"/>
          </a:solidFill>
          <a:ln w="1270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2296"/>
            <a:ext cx="5120640" cy="256032"/>
          </a:xfrm>
          <a:prstGeom prst="rect">
            <a:avLst/>
          </a:prstGeom>
          <a:noFill/>
        </p:spPr>
        <p:txBody>
          <a:bodyPr wrap="square" lIns="101600" rIns="101600" tIns="38100" bIns="38100">
            <a:spAutoFit/>
          </a:bodyPr>
          <a:lstStyle/>
          <a:p>
            <a:pPr algn="ctr"/>
            <a:r>
              <a:rPr sz="850" b="1">
                <a:solidFill>
                  <a:srgbClr val="00E5FF"/>
                </a:solidFill>
                <a:latin typeface="Segoe UI"/>
              </a:rPr>
              <a:t>CLINICAL SAFETY &amp; AI SCRIBE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08615" y="82296"/>
            <a:ext cx="1188720" cy="256032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08615" y="82296"/>
            <a:ext cx="1188720" cy="256032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SLIDE 06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84048"/>
            <a:ext cx="11002975" cy="13716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8912"/>
            <a:ext cx="1100297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Segoe UI"/>
              </a:rPr>
              <a:t>Clinical Safety &amp; Automated Scribing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005840"/>
            <a:ext cx="1100297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00E5FF"/>
                </a:solidFill>
                <a:latin typeface="Segoe UI"/>
              </a:rPr>
              <a:t>CDSCO SaMD Class B Guardrails + Whisper-Small &amp; Llama-3.2-3B INT4 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73952"/>
            <a:ext cx="11002975" cy="13716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i="1">
                <a:solidFill>
                  <a:srgbClr val="94A3B8"/>
                </a:solidFill>
                <a:latin typeface="Segoe UI"/>
              </a:rPr>
              <a:t>OmniCare AI  |  Clinical Safety &amp; AI Scribe  |  Slide 6 /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1481328"/>
            <a:ext cx="6858000" cy="1051560"/>
          </a:xfrm>
          <a:prstGeom prst="roundRect">
            <a:avLst/>
          </a:prstGeom>
          <a:solidFill>
            <a:srgbClr val="121D36"/>
          </a:solidFill>
          <a:ln w="1524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1481328"/>
            <a:ext cx="73152" cy="1051560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1554480"/>
            <a:ext cx="6583680" cy="905256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b="1" sz="1100">
                <a:solidFill>
                  <a:srgbClr val="00E5FF"/>
                </a:solidFill>
                <a:latin typeface="Segoe UI"/>
              </a:rPr>
              <a:t>CDSCO SaMD MDR-2017 Class B Aligned:
</a:t>
            </a:r>
            <a:r>
              <a:rPr sz="950">
                <a:solidFill>
                  <a:srgbClr val="F1F5F9"/>
                </a:solidFill>
                <a:latin typeface="Segoe UI"/>
              </a:rPr>
              <a:t>Automated Clinical Decision Support with mandatory human confirmation.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660904"/>
            <a:ext cx="6858000" cy="1051560"/>
          </a:xfrm>
          <a:prstGeom prst="roundRect">
            <a:avLst/>
          </a:prstGeom>
          <a:solidFill>
            <a:srgbClr val="121D36"/>
          </a:solidFill>
          <a:ln w="1524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360" y="2660904"/>
            <a:ext cx="73152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2734056"/>
            <a:ext cx="6583680" cy="905256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b="1" sz="1100">
                <a:solidFill>
                  <a:srgbClr val="10B981"/>
                </a:solidFill>
                <a:latin typeface="Segoe UI"/>
              </a:rPr>
              <a:t>Emergency Escalation Pathways:
</a:t>
            </a:r>
            <a:r>
              <a:rPr sz="950">
                <a:solidFill>
                  <a:srgbClr val="F1F5F9"/>
                </a:solidFill>
                <a:latin typeface="Segoe UI"/>
              </a:rPr>
              <a:t>Automatic flags for Acute STEMI, Tension Pneumothorax, and Septic Shock.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840480"/>
            <a:ext cx="6858000" cy="1051560"/>
          </a:xfrm>
          <a:prstGeom prst="roundRect">
            <a:avLst/>
          </a:prstGeom>
          <a:solidFill>
            <a:srgbClr val="121D36"/>
          </a:solidFill>
          <a:ln w="1524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3840480"/>
            <a:ext cx="73152" cy="1051560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3913632"/>
            <a:ext cx="6583680" cy="905256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b="1" sz="1100">
                <a:solidFill>
                  <a:srgbClr val="00E5FF"/>
                </a:solidFill>
                <a:latin typeface="Segoe UI"/>
              </a:rPr>
              <a:t>Multilingual Voice Dictation:
</a:t>
            </a:r>
            <a:r>
              <a:rPr sz="950">
                <a:solidFill>
                  <a:srgbClr val="F1F5F9"/>
                </a:solidFill>
                <a:latin typeface="Segoe UI"/>
              </a:rPr>
              <a:t>Whisper-Small INT8 fine-tuned on Indian medical accents and terminology.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020056"/>
            <a:ext cx="6858000" cy="1051560"/>
          </a:xfrm>
          <a:prstGeom prst="roundRect">
            <a:avLst/>
          </a:prstGeom>
          <a:solidFill>
            <a:srgbClr val="121D36"/>
          </a:solidFill>
          <a:ln w="1524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4360" y="5020056"/>
            <a:ext cx="73152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5093208"/>
            <a:ext cx="6583680" cy="905256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b="1" sz="1100">
                <a:solidFill>
                  <a:srgbClr val="10B981"/>
                </a:solidFill>
                <a:latin typeface="Segoe UI"/>
              </a:rPr>
              <a:t>Automated SOAP Notes:
</a:t>
            </a:r>
            <a:r>
              <a:rPr sz="950">
                <a:solidFill>
                  <a:srgbClr val="F1F5F9"/>
                </a:solidFill>
                <a:latin typeface="Segoe UI"/>
              </a:rPr>
              <a:t>Llama-3.2-3B INT4 generates Subjective, Objective, Assessment, Plan &amp; WHO ICD-10 codes.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55560" y="1455928"/>
            <a:ext cx="3967175" cy="1622811"/>
          </a:xfrm>
          <a:prstGeom prst="roundRect">
            <a:avLst/>
          </a:prstGeom>
          <a:solidFill>
            <a:srgbClr val="080D1A"/>
          </a:solidFill>
          <a:ln w="1524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cribe_and_vo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481328"/>
            <a:ext cx="3916375" cy="1572011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7680960" y="3126491"/>
            <a:ext cx="3916375" cy="438912"/>
          </a:xfrm>
          <a:prstGeom prst="roundRect">
            <a:avLst/>
          </a:prstGeom>
          <a:solidFill>
            <a:srgbClr val="121D36"/>
          </a:solidFill>
          <a:ln w="1270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0" y="3151891"/>
            <a:ext cx="3916375" cy="388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850">
                <a:solidFill>
                  <a:srgbClr val="00E5FF"/>
                </a:solidFill>
                <a:latin typeface="Segoe UI"/>
              </a:rPr>
              <a:t>Whisper-Small Indian Medical Voice Dictation + Llama-3.2-3B Structured SOAP Note &amp; ICD-10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82296"/>
            <a:ext cx="5120640" cy="256032"/>
          </a:xfrm>
          <a:prstGeom prst="roundRect">
            <a:avLst/>
          </a:prstGeom>
          <a:solidFill>
            <a:srgbClr val="0C1428"/>
          </a:solidFill>
          <a:ln w="1270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2296"/>
            <a:ext cx="5120640" cy="256032"/>
          </a:xfrm>
          <a:prstGeom prst="rect">
            <a:avLst/>
          </a:prstGeom>
          <a:noFill/>
        </p:spPr>
        <p:txBody>
          <a:bodyPr wrap="square" lIns="101600" rIns="101600" tIns="38100" bIns="38100">
            <a:spAutoFit/>
          </a:bodyPr>
          <a:lstStyle/>
          <a:p>
            <a:pPr algn="ctr"/>
            <a:r>
              <a:rPr sz="850" b="1">
                <a:solidFill>
                  <a:srgbClr val="00E5FF"/>
                </a:solidFill>
                <a:latin typeface="Segoe UI"/>
              </a:rPr>
              <a:t>INNOVATION &amp; INTEGRATION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08615" y="82296"/>
            <a:ext cx="1188720" cy="256032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08615" y="82296"/>
            <a:ext cx="1188720" cy="256032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SLIDE 07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84048"/>
            <a:ext cx="11002975" cy="13716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8912"/>
            <a:ext cx="1100297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Segoe UI"/>
              </a:rPr>
              <a:t>10 Distributed Edge Advancements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005840"/>
            <a:ext cx="1100297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00E5FF"/>
                </a:solidFill>
                <a:latin typeface="Segoe UI"/>
              </a:rPr>
              <a:t>Qualcomm AI Hub Quantized Models + On-Device Clinical Specialist Agents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73952"/>
            <a:ext cx="11002975" cy="13716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i="1">
                <a:solidFill>
                  <a:srgbClr val="94A3B8"/>
                </a:solidFill>
                <a:latin typeface="Segoe UI"/>
              </a:rPr>
              <a:t>OmniCare AI  |  10 Edge Advancements  |  Slide 7 /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1481328"/>
            <a:ext cx="5364327" cy="841248"/>
          </a:xfrm>
          <a:prstGeom prst="roundRect">
            <a:avLst/>
          </a:prstGeom>
          <a:solidFill>
            <a:srgbClr val="121D36"/>
          </a:solidFill>
          <a:ln w="1524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1481328"/>
            <a:ext cx="73152" cy="841248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1536192"/>
            <a:ext cx="5144871" cy="7315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b="1" sz="1050">
                <a:solidFill>
                  <a:srgbClr val="00E5FF"/>
                </a:solidFill>
                <a:latin typeface="Segoe UI"/>
              </a:rPr>
              <a:t>ADV-01:  NEWS2 Early Warning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1F5F9"/>
                </a:solidFill>
                <a:latin typeface="Segoe UI"/>
              </a:rPr>
              <a:t>7-vital deterioration score with ICU escalation pathways.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414016"/>
            <a:ext cx="5364327" cy="841248"/>
          </a:xfrm>
          <a:prstGeom prst="roundRect">
            <a:avLst/>
          </a:prstGeom>
          <a:solidFill>
            <a:srgbClr val="121D36"/>
          </a:solidFill>
          <a:ln w="1524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360" y="2414016"/>
            <a:ext cx="73152" cy="841248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" y="2468880"/>
            <a:ext cx="5144871" cy="7315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b="1" sz="1050">
                <a:solidFill>
                  <a:srgbClr val="00E5FF"/>
                </a:solidFill>
                <a:latin typeface="Segoe UI"/>
              </a:rPr>
              <a:t>ADV-02:  PMBJP Jan Aushadhi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1F5F9"/>
                </a:solidFill>
                <a:latin typeface="Segoe UI"/>
              </a:rPr>
              <a:t>Maps branded drugs to 10,000+ generics; 82.9% savings.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346704"/>
            <a:ext cx="5364327" cy="841248"/>
          </a:xfrm>
          <a:prstGeom prst="roundRect">
            <a:avLst/>
          </a:prstGeom>
          <a:solidFill>
            <a:srgbClr val="121D36"/>
          </a:solidFill>
          <a:ln w="1524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3346704"/>
            <a:ext cx="73152" cy="841248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01568"/>
            <a:ext cx="5144871" cy="7315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b="1" sz="1050">
                <a:solidFill>
                  <a:srgbClr val="00E5FF"/>
                </a:solidFill>
                <a:latin typeface="Segoe UI"/>
              </a:rPr>
              <a:t>ADV-03:  CYP450 DDI Checker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1F5F9"/>
                </a:solidFill>
                <a:latin typeface="Segoe UI"/>
              </a:rPr>
              <a:t>Enzymatic contraindication screening (e.g. Clopidogrel).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279392"/>
            <a:ext cx="5364327" cy="841248"/>
          </a:xfrm>
          <a:prstGeom prst="roundRect">
            <a:avLst/>
          </a:prstGeom>
          <a:solidFill>
            <a:srgbClr val="121D36"/>
          </a:solidFill>
          <a:ln w="1524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4360" y="4279392"/>
            <a:ext cx="73152" cy="841248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" y="4334256"/>
            <a:ext cx="5144871" cy="7315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b="1" sz="1050">
                <a:solidFill>
                  <a:srgbClr val="00E5FF"/>
                </a:solidFill>
                <a:latin typeface="Segoe UI"/>
              </a:rPr>
              <a:t>ADV-04:  AI Specialist Council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1F5F9"/>
                </a:solidFill>
                <a:latin typeface="Segoe UI"/>
              </a:rPr>
              <a:t>4 Specialist AI Agents arbitrated by CMO consensus.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212080"/>
            <a:ext cx="5364327" cy="841248"/>
          </a:xfrm>
          <a:prstGeom prst="roundRect">
            <a:avLst/>
          </a:prstGeom>
          <a:solidFill>
            <a:srgbClr val="121D36"/>
          </a:solidFill>
          <a:ln w="1524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94360" y="5212080"/>
            <a:ext cx="73152" cy="841248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5266944"/>
            <a:ext cx="5144871" cy="7315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b="1" sz="1050">
                <a:solidFill>
                  <a:srgbClr val="00E5FF"/>
                </a:solidFill>
                <a:latin typeface="Segoe UI"/>
              </a:rPr>
              <a:t>ADV-05:  Handheld POCUS AI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1F5F9"/>
                </a:solidFill>
                <a:latin typeface="Segoe UI"/>
              </a:rPr>
              <a:t>USB-C cardiac ultrasound - LVEF % and Pleural Sliding.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3007" y="1481328"/>
            <a:ext cx="5364327" cy="841248"/>
          </a:xfrm>
          <a:prstGeom prst="roundRect">
            <a:avLst/>
          </a:prstGeom>
          <a:solidFill>
            <a:srgbClr val="121D36"/>
          </a:solidFill>
          <a:ln w="1524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33007" y="1481328"/>
            <a:ext cx="73152" cy="8412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9311" y="1536192"/>
            <a:ext cx="5144871" cy="7315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b="1" sz="1050">
                <a:solidFill>
                  <a:srgbClr val="10B981"/>
                </a:solidFill>
                <a:latin typeface="Segoe UI"/>
              </a:rPr>
              <a:t>ADV-06:  8 Indian Languages TTS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1F5F9"/>
                </a:solidFill>
                <a:latin typeface="Segoe UI"/>
              </a:rPr>
              <a:t>Vernacular voice counseling (Hindi, Tamil, Telugu, etc.).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3007" y="2414016"/>
            <a:ext cx="5364327" cy="841248"/>
          </a:xfrm>
          <a:prstGeom prst="roundRect">
            <a:avLst/>
          </a:prstGeom>
          <a:solidFill>
            <a:srgbClr val="121D36"/>
          </a:solidFill>
          <a:ln w="1524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33007" y="2414016"/>
            <a:ext cx="73152" cy="8412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9311" y="2468880"/>
            <a:ext cx="5144871" cy="7315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b="1" sz="1050">
                <a:solidFill>
                  <a:srgbClr val="10B981"/>
                </a:solidFill>
                <a:latin typeface="Segoe UI"/>
              </a:rPr>
              <a:t>ADV-07:  DICOM 3.0 Web-PACS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1F5F9"/>
                </a:solidFill>
                <a:latin typeface="Segoe UI"/>
              </a:rPr>
              <a:t>Embedded WADO-RS / QIDO-RS server with HU windowing.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3007" y="3346704"/>
            <a:ext cx="5364327" cy="841248"/>
          </a:xfrm>
          <a:prstGeom prst="roundRect">
            <a:avLst/>
          </a:prstGeom>
          <a:solidFill>
            <a:srgbClr val="121D36"/>
          </a:solidFill>
          <a:ln w="1524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33007" y="3346704"/>
            <a:ext cx="73152" cy="8412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79311" y="3401568"/>
            <a:ext cx="5144871" cy="7315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b="1" sz="1050">
                <a:solidFill>
                  <a:srgbClr val="10B981"/>
                </a:solidFill>
                <a:latin typeface="Segoe UI"/>
              </a:rPr>
              <a:t>ADV-08:  DP-SGD Federated Privacy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1F5F9"/>
                </a:solidFill>
                <a:latin typeface="Segoe UI"/>
              </a:rPr>
              <a:t>eps=1.2, delta=1e-5 mathematical bounds preventing leaks.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33007" y="4279392"/>
            <a:ext cx="5364327" cy="841248"/>
          </a:xfrm>
          <a:prstGeom prst="roundRect">
            <a:avLst/>
          </a:prstGeom>
          <a:solidFill>
            <a:srgbClr val="121D36"/>
          </a:solidFill>
          <a:ln w="1524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233007" y="4279392"/>
            <a:ext cx="73152" cy="8412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79311" y="4334256"/>
            <a:ext cx="5144871" cy="7315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b="1" sz="1050">
                <a:solidFill>
                  <a:srgbClr val="10B981"/>
                </a:solidFill>
                <a:latin typeface="Segoe UI"/>
              </a:rPr>
              <a:t>ADV-09:  HP Wolf Security Vault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1F5F9"/>
                </a:solidFill>
                <a:latin typeface="Segoe UI"/>
              </a:rPr>
              <a:t>Hardware AES-256-GCM enclave with Merkle audit chain.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33007" y="5212080"/>
            <a:ext cx="5364327" cy="841248"/>
          </a:xfrm>
          <a:prstGeom prst="roundRect">
            <a:avLst/>
          </a:prstGeom>
          <a:solidFill>
            <a:srgbClr val="121D36"/>
          </a:solidFill>
          <a:ln w="1524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233007" y="5212080"/>
            <a:ext cx="73152" cy="8412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79311" y="5266944"/>
            <a:ext cx="5144871" cy="7315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b="1" sz="1050">
                <a:solidFill>
                  <a:srgbClr val="10B981"/>
                </a:solidFill>
                <a:latin typeface="Segoe UI"/>
              </a:rPr>
              <a:t>ADV-10:  ABDM FHIR R4 Bundle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1F5F9"/>
                </a:solidFill>
                <a:latin typeface="Segoe UI"/>
              </a:rPr>
              <a:t>1-click compliant EHR bundle export with ABHA ID.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82296"/>
            <a:ext cx="5120640" cy="256032"/>
          </a:xfrm>
          <a:prstGeom prst="roundRect">
            <a:avLst/>
          </a:prstGeom>
          <a:solidFill>
            <a:srgbClr val="0C1428"/>
          </a:solidFill>
          <a:ln w="1270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2296"/>
            <a:ext cx="5120640" cy="256032"/>
          </a:xfrm>
          <a:prstGeom prst="rect">
            <a:avLst/>
          </a:prstGeom>
          <a:noFill/>
        </p:spPr>
        <p:txBody>
          <a:bodyPr wrap="square" lIns="101600" rIns="101600" tIns="38100" bIns="38100">
            <a:spAutoFit/>
          </a:bodyPr>
          <a:lstStyle/>
          <a:p>
            <a:pPr algn="ctr"/>
            <a:r>
              <a:rPr sz="850" b="1">
                <a:solidFill>
                  <a:srgbClr val="00E5FF"/>
                </a:solidFill>
                <a:latin typeface="Segoe UI"/>
              </a:rPr>
              <a:t>SECURITY &amp; SOVEREIGNTY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08615" y="82296"/>
            <a:ext cx="1188720" cy="256032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08615" y="82296"/>
            <a:ext cx="1188720" cy="256032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SLIDE 08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84048"/>
            <a:ext cx="11002975" cy="13716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8912"/>
            <a:ext cx="1100297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Segoe UI"/>
              </a:rPr>
              <a:t>Zero Cloud Egress • HP Wolf Security &amp; DPDP 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005840"/>
            <a:ext cx="1100297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00E5FF"/>
                </a:solidFill>
                <a:latin typeface="Segoe UI"/>
              </a:rPr>
              <a:t>Cryptographically Guaranteed Privacy • 100% India-Compliant Architecture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73952"/>
            <a:ext cx="11002975" cy="13716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i="1">
                <a:solidFill>
                  <a:srgbClr val="94A3B8"/>
                </a:solidFill>
                <a:latin typeface="Segoe UI"/>
              </a:rPr>
              <a:t>OmniCare AI  |  Security and Compliance  |  Slide 8 / 12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94360" y="1481328"/>
          <a:ext cx="70408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097280"/>
                <a:gridCol w="1188720"/>
                <a:gridCol w="3200400"/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FFFFFF"/>
                          </a:solidFill>
                          <a:latin typeface="Segoe UI"/>
                        </a:rPr>
                        <a:t>Regulation / Standard</a:t>
                      </a:r>
                    </a:p>
                  </a:txBody>
                  <a:tcPr anchor="ctr" marL="63500" marR="63500" marT="50800" marB="50800">
                    <a:solidFill>
                      <a:srgbClr val="005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FFFFFF"/>
                          </a:solidFill>
                          <a:latin typeface="Segoe UI"/>
                        </a:rPr>
                        <a:t>Governing Body</a:t>
                      </a:r>
                    </a:p>
                  </a:txBody>
                  <a:tcPr anchor="ctr" marL="63500" marR="63500" marT="50800" marB="50800">
                    <a:solidFill>
                      <a:srgbClr val="005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anchor="ctr" marL="63500" marR="63500" marT="50800" marB="50800">
                    <a:solidFill>
                      <a:srgbClr val="005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FFFFFF"/>
                          </a:solidFill>
                          <a:latin typeface="Segoe UI"/>
                        </a:rPr>
                        <a:t>Implementation</a:t>
                      </a:r>
                    </a:p>
                  </a:txBody>
                  <a:tcPr anchor="ctr" marL="63500" marR="63500" marT="50800" marB="50800">
                    <a:solidFill>
                      <a:srgbClr val="0052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India DPDP Act 2023</a:t>
                      </a:r>
                    </a:p>
                  </a:txBody>
                  <a:tcPr anchor="ctr" marL="63500" marR="635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  <a:latin typeface="Segoe UI"/>
                        </a:rPr>
                        <a:t>MeitY</a:t>
                      </a:r>
                    </a:p>
                  </a:txBody>
                  <a:tcPr anchor="ctr" marL="63500" marR="635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0B981"/>
                          </a:solidFill>
                          <a:latin typeface="Segoe UI"/>
                        </a:rPr>
                        <a:t>COMPLIANT</a:t>
                      </a:r>
                    </a:p>
                  </a:txBody>
                  <a:tcPr anchor="ctr" marL="63500" marR="635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  <a:latin typeface="Segoe UI"/>
                        </a:rPr>
                        <a:t>Zero cloud egress; all data on-device; HP Wolf AES-256-GCM</a:t>
                      </a:r>
                    </a:p>
                  </a:txBody>
                  <a:tcPr anchor="ctr" marL="63500" marR="63500" marT="50800" marB="50800">
                    <a:solidFill>
                      <a:srgbClr val="121D36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NRCeS ABDM FHIR R4</a:t>
                      </a:r>
                    </a:p>
                  </a:txBody>
                  <a:tcPr anchor="ctr" marL="63500" marR="63500" marT="50800" marB="50800">
                    <a:solidFill>
                      <a:srgbClr val="172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  <a:latin typeface="Segoe UI"/>
                        </a:rPr>
                        <a:t>NHA/NRCeS</a:t>
                      </a:r>
                    </a:p>
                  </a:txBody>
                  <a:tcPr anchor="ctr" marL="63500" marR="63500" marT="50800" marB="50800">
                    <a:solidFill>
                      <a:srgbClr val="172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0B981"/>
                          </a:solidFill>
                          <a:latin typeface="Segoe UI"/>
                        </a:rPr>
                        <a:t>COMPLIANT</a:t>
                      </a:r>
                    </a:p>
                  </a:txBody>
                  <a:tcPr anchor="ctr" marL="63500" marR="63500" marT="50800" marB="50800">
                    <a:solidFill>
                      <a:srgbClr val="172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  <a:latin typeface="Segoe UI"/>
                        </a:rPr>
                        <a:t>1-click FHIR R4 Bundle with ABHA ID at /api/export/fhir</a:t>
                      </a:r>
                    </a:p>
                  </a:txBody>
                  <a:tcPr anchor="ctr" marL="63500" marR="63500" marT="50800" marB="50800">
                    <a:solidFill>
                      <a:srgbClr val="17244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CDSCO SaMD Class B</a:t>
                      </a:r>
                    </a:p>
                  </a:txBody>
                  <a:tcPr anchor="ctr" marL="63500" marR="635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  <a:latin typeface="Segoe UI"/>
                        </a:rPr>
                        <a:t>CDSCO India</a:t>
                      </a:r>
                    </a:p>
                  </a:txBody>
                  <a:tcPr anchor="ctr" marL="63500" marR="635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0B981"/>
                          </a:solidFill>
                          <a:latin typeface="Segoe UI"/>
                        </a:rPr>
                        <a:t>ALIGNED</a:t>
                      </a:r>
                    </a:p>
                  </a:txBody>
                  <a:tcPr anchor="ctr" marL="63500" marR="635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  <a:latin typeface="Segoe UI"/>
                        </a:rPr>
                        <a:t>Human-in-loop physician confirmation; /api/safety/guardrails</a:t>
                      </a:r>
                    </a:p>
                  </a:txBody>
                  <a:tcPr anchor="ctr" marL="63500" marR="63500" marT="50800" marB="50800">
                    <a:solidFill>
                      <a:srgbClr val="121D36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IEC 62304/ISO 14971</a:t>
                      </a:r>
                    </a:p>
                  </a:txBody>
                  <a:tcPr anchor="ctr" marL="63500" marR="63500" marT="50800" marB="50800">
                    <a:solidFill>
                      <a:srgbClr val="172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  <a:latin typeface="Segoe UI"/>
                        </a:rPr>
                        <a:t>IEC / ISO</a:t>
                      </a:r>
                    </a:p>
                  </a:txBody>
                  <a:tcPr anchor="ctr" marL="63500" marR="63500" marT="50800" marB="50800">
                    <a:solidFill>
                      <a:srgbClr val="172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  <a:latin typeface="Segoe UI"/>
                        </a:rPr>
                        <a:t>ARCHITECTED</a:t>
                      </a:r>
                    </a:p>
                  </a:txBody>
                  <a:tcPr anchor="ctr" marL="63500" marR="63500" marT="50800" marB="50800">
                    <a:solidFill>
                      <a:srgbClr val="172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  <a:latin typeface="Segoe UI"/>
                        </a:rPr>
                        <a:t>Risk management lifecycle; software safety process documented</a:t>
                      </a:r>
                    </a:p>
                  </a:txBody>
                  <a:tcPr anchor="ctr" marL="63500" marR="63500" marT="50800" marB="50800">
                    <a:solidFill>
                      <a:srgbClr val="17244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PMBJP Jan Aushadhi</a:t>
                      </a:r>
                    </a:p>
                  </a:txBody>
                  <a:tcPr anchor="ctr" marL="63500" marR="635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  <a:latin typeface="Segoe UI"/>
                        </a:rPr>
                        <a:t>DoP / GoI</a:t>
                      </a:r>
                    </a:p>
                  </a:txBody>
                  <a:tcPr anchor="ctr" marL="63500" marR="635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0B981"/>
                          </a:solidFill>
                          <a:latin typeface="Segoe UI"/>
                        </a:rPr>
                        <a:t>INTEGRATED</a:t>
                      </a:r>
                    </a:p>
                  </a:txBody>
                  <a:tcPr anchor="ctr" marL="63500" marR="635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  <a:latin typeface="Segoe UI"/>
                        </a:rPr>
                        <a:t>82.9% Rx savings via PMBJP generic drug AI substitution</a:t>
                      </a:r>
                    </a:p>
                  </a:txBody>
                  <a:tcPr anchor="ctr" marL="63500" marR="63500" marT="50800" marB="50800">
                    <a:solidFill>
                      <a:srgbClr val="121D36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7863840" y="1481328"/>
            <a:ext cx="3733495" cy="4572000"/>
          </a:xfrm>
          <a:prstGeom prst="roundRect">
            <a:avLst/>
          </a:prstGeom>
          <a:solidFill>
            <a:srgbClr val="121D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0" y="1481328"/>
            <a:ext cx="37334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28432" y="1600200"/>
            <a:ext cx="3404311" cy="4297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b="1" sz="1200">
                <a:solidFill>
                  <a:srgbClr val="10B981"/>
                </a:solidFill>
                <a:latin typeface="Segoe UI"/>
              </a:rPr>
              <a:t>HP WOLF SECURITY ENCLAVE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0B981"/>
                </a:solidFill>
                <a:latin typeface="Segoe UI"/>
              </a:rPr>
              <a:t>✓ </a:t>
            </a:r>
            <a:r>
              <a:rPr sz="1000">
                <a:solidFill>
                  <a:srgbClr val="F1F5F9"/>
                </a:solidFill>
                <a:latin typeface="Segoe UI"/>
              </a:rPr>
              <a:t>AES-256-GCM authenticated encryption at rest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0B981"/>
                </a:solidFill>
                <a:latin typeface="Segoe UI"/>
              </a:rPr>
              <a:t>✓ </a:t>
            </a:r>
            <a:r>
              <a:rPr sz="1000">
                <a:solidFill>
                  <a:srgbClr val="F1F5F9"/>
                </a:solidFill>
                <a:latin typeface="Segoe UI"/>
              </a:rPr>
              <a:t>PBKDF2 key derivation (100,000 SHA-256 iterations)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0B981"/>
                </a:solidFill>
                <a:latin typeface="Segoe UI"/>
              </a:rPr>
              <a:t>✓ </a:t>
            </a:r>
            <a:r>
              <a:rPr sz="1000">
                <a:solidFill>
                  <a:srgbClr val="F1F5F9"/>
                </a:solidFill>
                <a:latin typeface="Segoe UI"/>
              </a:rPr>
              <a:t>Tamper-evident SHA-256 Merkle audit trail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0B981"/>
                </a:solidFill>
                <a:latin typeface="Segoe UI"/>
              </a:rPr>
              <a:t>✓ </a:t>
            </a:r>
            <a:r>
              <a:rPr sz="1000">
                <a:solidFill>
                  <a:srgbClr val="F1F5F9"/>
                </a:solidFill>
                <a:latin typeface="Segoe UI"/>
              </a:rPr>
              <a:t>Zero biometric embeddings ever exported to cloud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82296"/>
            <a:ext cx="5120640" cy="256032"/>
          </a:xfrm>
          <a:prstGeom prst="roundRect">
            <a:avLst/>
          </a:prstGeom>
          <a:solidFill>
            <a:srgbClr val="0C1428"/>
          </a:solidFill>
          <a:ln w="1270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2296"/>
            <a:ext cx="5120640" cy="256032"/>
          </a:xfrm>
          <a:prstGeom prst="rect">
            <a:avLst/>
          </a:prstGeom>
          <a:noFill/>
        </p:spPr>
        <p:txBody>
          <a:bodyPr wrap="square" lIns="101600" rIns="101600" tIns="38100" bIns="38100">
            <a:spAutoFit/>
          </a:bodyPr>
          <a:lstStyle/>
          <a:p>
            <a:pPr algn="ctr"/>
            <a:r>
              <a:rPr sz="850" b="1">
                <a:solidFill>
                  <a:srgbClr val="00E5FF"/>
                </a:solidFill>
                <a:latin typeface="Segoe UI"/>
              </a:rPr>
              <a:t>SYSTEM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08615" y="82296"/>
            <a:ext cx="1188720" cy="256032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08615" y="82296"/>
            <a:ext cx="1188720" cy="256032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SLIDE 09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84048"/>
            <a:ext cx="11002975" cy="13716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8912"/>
            <a:ext cx="1100297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Segoe UI"/>
              </a:rPr>
              <a:t>End-to-End On-Device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005840"/>
            <a:ext cx="1100297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00E5FF"/>
                </a:solidFill>
                <a:latin typeface="Segoe UI"/>
              </a:rPr>
              <a:t>Three-Tier Stack: FastAPI Async Edge Server + Hexagon NPU + HP Sensors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73952"/>
            <a:ext cx="11002975" cy="13716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i="1">
                <a:solidFill>
                  <a:srgbClr val="94A3B8"/>
                </a:solidFill>
                <a:latin typeface="Segoe UI"/>
              </a:rPr>
              <a:t>OmniCare AI  |  System Architecture  |  Slide 9 /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1554480"/>
            <a:ext cx="8625535" cy="1005840"/>
          </a:xfrm>
          <a:prstGeom prst="roundRect">
            <a:avLst/>
          </a:prstGeom>
          <a:solidFill>
            <a:srgbClr val="121D36"/>
          </a:solidFill>
          <a:ln w="1905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1554480"/>
            <a:ext cx="2011680" cy="1005840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1865376"/>
            <a:ext cx="1901952" cy="402336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PRESENTATION TIER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1773936"/>
            <a:ext cx="6339535" cy="56692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50" b="1">
                <a:solidFill>
                  <a:srgbClr val="F1F5F9"/>
                </a:solidFill>
                <a:latin typeface="Segoe UI"/>
              </a:rPr>
              <a:t>Clinical Cockpit (frontend/index.html)  |  Showcase Portal (showcase/index.html)  |  Interactive Pitch Deck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706624"/>
            <a:ext cx="8625535" cy="1005840"/>
          </a:xfrm>
          <a:prstGeom prst="roundRect">
            <a:avLst/>
          </a:prstGeom>
          <a:solidFill>
            <a:srgbClr val="121D36"/>
          </a:solidFill>
          <a:ln w="1905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2706624"/>
            <a:ext cx="2011680" cy="1005840"/>
          </a:xfrm>
          <a:prstGeom prst="round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" y="3017520"/>
            <a:ext cx="1901952" cy="402336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APPLICATION TIER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926080"/>
            <a:ext cx="6339535" cy="56692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50" b="1">
                <a:solidFill>
                  <a:srgbClr val="F1F5F9"/>
                </a:solidFill>
                <a:latin typeface="Segoe UI"/>
              </a:rPr>
              <a:t>FastAPI Async Edge Server  |  HP Smart Sense Governor API  |  25-Endpoint RESTful Edge 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858768"/>
            <a:ext cx="8625535" cy="1005840"/>
          </a:xfrm>
          <a:prstGeom prst="roundRect">
            <a:avLst/>
          </a:prstGeom>
          <a:solidFill>
            <a:srgbClr val="121D36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94360" y="3858768"/>
            <a:ext cx="2011680" cy="1005840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" y="4169664"/>
            <a:ext cx="1901952" cy="402336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AI 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078224"/>
            <a:ext cx="6339535" cy="56692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50" b="1">
                <a:solidFill>
                  <a:srgbClr val="F1F5F9"/>
                </a:solidFill>
                <a:latin typeface="Segoe UI"/>
              </a:rPr>
              <a:t>6 Diagnostic AI Engines (Hexagon NPU)  |  Clinical AI Specialist Agents  |  CMO Consensus Arbiter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010912"/>
            <a:ext cx="8625535" cy="1005840"/>
          </a:xfrm>
          <a:prstGeom prst="roundRect">
            <a:avLst/>
          </a:prstGeom>
          <a:solidFill>
            <a:srgbClr val="121D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94360" y="5010912"/>
            <a:ext cx="2011680" cy="10058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" y="5321808"/>
            <a:ext cx="1901952" cy="402336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SECURITY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230368"/>
            <a:ext cx="6339535" cy="56692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50" b="1">
                <a:solidFill>
                  <a:srgbClr val="F1F5F9"/>
                </a:solidFill>
                <a:latin typeface="Segoe UI"/>
              </a:rPr>
              <a:t>HP Wolf AES-256-GCM Vault  |  SHA-256 Merkle Audit Trail  |  ABDM FHIR R4 Bundle  |  DPDP Act 2023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48495" y="1536192"/>
            <a:ext cx="2148840" cy="4462272"/>
          </a:xfrm>
          <a:prstGeom prst="roundRect">
            <a:avLst/>
          </a:prstGeom>
          <a:solidFill>
            <a:srgbClr val="0C1428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39935" y="1737360"/>
            <a:ext cx="1965960" cy="4023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950" b="1">
                <a:solidFill>
                  <a:srgbClr val="00E5FF"/>
                </a:solidFill>
                <a:latin typeface="Segoe UI"/>
              </a:rPr>
              <a:t>QUALCOMM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HEXAGON NPU</a:t>
            </a:r>
          </a:p>
          <a:p>
            <a:pPr algn="ctr"/>
            <a:r>
              <a:rPr sz="950" b="0">
                <a:solidFill>
                  <a:srgbClr val="CBD5E1"/>
                </a:solidFill>
                <a:latin typeface="Segoe UI"/>
              </a:rPr>
              <a:t>HTP v73 Coprocessor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Segoe UI"/>
              </a:rPr>
              <a:t> </a:t>
            </a:r>
          </a:p>
          <a:p>
            <a:pPr algn="ctr"/>
            <a:r>
              <a:rPr sz="2600" b="1">
                <a:solidFill>
                  <a:srgbClr val="00E5FF"/>
                </a:solidFill>
                <a:latin typeface="Segoe UI"/>
              </a:rPr>
              <a:t>45.0 TOPS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INT8 / INT4 Multi-Modal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Segoe UI"/>
              </a:rPr>
              <a:t> </a:t>
            </a:r>
          </a:p>
          <a:p>
            <a:pPr algn="ctr"/>
            <a:r>
              <a:rPr sz="1050" b="1">
                <a:solidFill>
                  <a:srgbClr val="10B981"/>
                </a:solidFill>
                <a:latin typeface="Segoe UI"/>
              </a:rPr>
              <a:t>Zero Cloud Egress</a:t>
            </a:r>
          </a:p>
          <a:p>
            <a:pPr algn="ctr"/>
            <a:r>
              <a:rPr sz="1000" b="0">
                <a:solidFill>
                  <a:srgbClr val="F1F5F9"/>
                </a:solidFill>
                <a:latin typeface="Segoe UI"/>
              </a:rPr>
              <a:t>100% Offline Edge</a:t>
            </a:r>
          </a:p>
          <a:p>
            <a:pPr algn="ctr"/>
            <a:r>
              <a:rPr sz="1000" b="1">
                <a:solidFill>
                  <a:srgbClr val="00E5FF"/>
                </a:solidFill>
                <a:latin typeface="Segoe UI"/>
              </a:rPr>
              <a:t>Sub-15ms Latency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82296"/>
            <a:ext cx="5120640" cy="256032"/>
          </a:xfrm>
          <a:prstGeom prst="roundRect">
            <a:avLst/>
          </a:prstGeom>
          <a:solidFill>
            <a:srgbClr val="0C1428"/>
          </a:solidFill>
          <a:ln w="1270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2296"/>
            <a:ext cx="5120640" cy="256032"/>
          </a:xfrm>
          <a:prstGeom prst="rect">
            <a:avLst/>
          </a:prstGeom>
          <a:noFill/>
        </p:spPr>
        <p:txBody>
          <a:bodyPr wrap="square" lIns="101600" rIns="101600" tIns="38100" bIns="38100">
            <a:spAutoFit/>
          </a:bodyPr>
          <a:lstStyle/>
          <a:p>
            <a:pPr algn="ctr"/>
            <a:r>
              <a:rPr sz="850" b="1">
                <a:solidFill>
                  <a:srgbClr val="00E5FF"/>
                </a:solidFill>
                <a:latin typeface="Segoe UI"/>
              </a:rPr>
              <a:t>COMPETITIVE ADVANTAGE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08615" y="82296"/>
            <a:ext cx="1188720" cy="256032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08615" y="82296"/>
            <a:ext cx="1188720" cy="256032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SLIDE 10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84048"/>
            <a:ext cx="11002975" cy="13716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8912"/>
            <a:ext cx="1100297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Segoe UI"/>
              </a:rPr>
              <a:t>Why OmniCare AI Wins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005840"/>
            <a:ext cx="1100297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00E5FF"/>
                </a:solidFill>
                <a:latin typeface="Segoe UI"/>
              </a:rPr>
              <a:t>Snapdragon X Elite Edge AI vs. Legacy Hospital Monitors vs. Cloud Telehealth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73952"/>
            <a:ext cx="11002975" cy="13716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i="1">
                <a:solidFill>
                  <a:srgbClr val="94A3B8"/>
                </a:solidFill>
                <a:latin typeface="Segoe UI"/>
              </a:rPr>
              <a:t>OmniCare AI  |  Competitive Advantage  |  Slide 10 / 12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94360" y="1481328"/>
          <a:ext cx="1100297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2743200"/>
                <a:gridCol w="3687775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Segoe UI"/>
                        </a:rPr>
                        <a:t>Dimension</a:t>
                      </a:r>
                    </a:p>
                  </a:txBody>
                  <a:tcPr anchor="ctr" marL="76200" marR="76200" marT="50800" marB="50800">
                    <a:solidFill>
                      <a:srgbClr val="0B25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Segoe UI"/>
                        </a:rPr>
                        <a:t>Legacy Hospital Monitors</a:t>
                      </a:r>
                    </a:p>
                  </a:txBody>
                  <a:tcPr anchor="ctr" marL="76200" marR="76200" marT="50800" marB="50800">
                    <a:solidFill>
                      <a:srgbClr val="0B25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Segoe UI"/>
                        </a:rPr>
                        <a:t>Cloud Telehealth (AWS/GCP)</a:t>
                      </a:r>
                    </a:p>
                  </a:txBody>
                  <a:tcPr anchor="ctr" marL="76200" marR="76200" marT="50800" marB="50800">
                    <a:solidFill>
                      <a:srgbClr val="0B25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00E5FF"/>
                          </a:solidFill>
                          <a:latin typeface="Segoe UI"/>
                        </a:rPr>
                        <a:t>OmniCare AI on Snapdragon</a:t>
                      </a:r>
                    </a:p>
                  </a:txBody>
                  <a:tcPr anchor="ctr" marL="76200" marR="76200" marT="50800" marB="50800">
                    <a:solidFill>
                      <a:srgbClr val="0052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Segoe UI"/>
                        </a:rPr>
                        <a:t>Edge AI Compute</a:t>
                      </a:r>
                    </a:p>
                  </a:txBody>
                  <a:tcPr anchor="ctr" marL="76200" marR="762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Segoe UI"/>
                        </a:rPr>
                        <a:t>None - fixed MCU waveforms</a:t>
                      </a:r>
                    </a:p>
                  </a:txBody>
                  <a:tcPr anchor="ctr" marL="76200" marR="762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Segoe UI"/>
                        </a:rPr>
                        <a:t>None - thin client display</a:t>
                      </a:r>
                    </a:p>
                  </a:txBody>
                  <a:tcPr anchor="ctr" marL="76200" marR="762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0E5FF"/>
                          </a:solidFill>
                          <a:latin typeface="Segoe UI"/>
                        </a:rPr>
                        <a:t>45.0 TOPS Hexagon NPU - 6 concurrent models</a:t>
                      </a:r>
                    </a:p>
                  </a:txBody>
                  <a:tcPr anchor="ctr" marL="76200" marR="76200" marT="50800" marB="50800">
                    <a:solidFill>
                      <a:srgbClr val="17244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Segoe UI"/>
                        </a:rPr>
                        <a:t>Inference Latency</a:t>
                      </a:r>
                    </a:p>
                  </a:txBody>
                  <a:tcPr anchor="ctr" marL="76200" marR="76200" marT="50800" marB="50800">
                    <a:solidFill>
                      <a:srgbClr val="172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Segoe UI"/>
                        </a:rPr>
                        <a:t>N/A - no AI diagnostics</a:t>
                      </a:r>
                    </a:p>
                  </a:txBody>
                  <a:tcPr anchor="ctr" marL="76200" marR="76200" marT="50800" marB="50800">
                    <a:solidFill>
                      <a:srgbClr val="172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Segoe UI"/>
                        </a:rPr>
                        <a:t>800-2,500 ms roundtrip</a:t>
                      </a:r>
                    </a:p>
                  </a:txBody>
                  <a:tcPr anchor="ctr" marL="76200" marR="76200" marT="50800" marB="50800">
                    <a:solidFill>
                      <a:srgbClr val="172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0E5FF"/>
                          </a:solidFill>
                          <a:latin typeface="Segoe UI"/>
                        </a:rPr>
                        <a:t>Sub-15 ms per modality - on-device</a:t>
                      </a:r>
                    </a:p>
                  </a:txBody>
                  <a:tcPr anchor="ctr" marL="76200" marR="76200" marT="50800" marB="50800">
                    <a:solidFill>
                      <a:srgbClr val="0B255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Segoe UI"/>
                        </a:rPr>
                        <a:t>Network Dependency</a:t>
                      </a:r>
                    </a:p>
                  </a:txBody>
                  <a:tcPr anchor="ctr" marL="76200" marR="762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Segoe UI"/>
                        </a:rPr>
                        <a:t>Offline (manual logging)</a:t>
                      </a:r>
                    </a:p>
                  </a:txBody>
                  <a:tcPr anchor="ctr" marL="76200" marR="762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Segoe UI"/>
                        </a:rPr>
                        <a:t>Fails without 4G/5G</a:t>
                      </a:r>
                    </a:p>
                  </a:txBody>
                  <a:tcPr anchor="ctr" marL="76200" marR="762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0E5FF"/>
                          </a:solidFill>
                          <a:latin typeface="Segoe UI"/>
                        </a:rPr>
                        <a:t>100% Zero Cloud Egress - works at 0 Mbps</a:t>
                      </a:r>
                    </a:p>
                  </a:txBody>
                  <a:tcPr anchor="ctr" marL="76200" marR="76200" marT="50800" marB="50800">
                    <a:solidFill>
                      <a:srgbClr val="17244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Segoe UI"/>
                        </a:rPr>
                        <a:t>Equipment Cost</a:t>
                      </a:r>
                    </a:p>
                  </a:txBody>
                  <a:tcPr anchor="ctr" marL="76200" marR="76200" marT="50800" marB="50800">
                    <a:solidFill>
                      <a:srgbClr val="172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Segoe UI"/>
                        </a:rPr>
                        <a:t>$15,000+ per diagnostic cart</a:t>
                      </a:r>
                    </a:p>
                  </a:txBody>
                  <a:tcPr anchor="ctr" marL="76200" marR="76200" marT="50800" marB="50800">
                    <a:solidFill>
                      <a:srgbClr val="172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Segoe UI"/>
                        </a:rPr>
                        <a:t>$1,200 tablet + $50/mo API</a:t>
                      </a:r>
                    </a:p>
                  </a:txBody>
                  <a:tcPr anchor="ctr" marL="76200" marR="76200" marT="50800" marB="50800">
                    <a:solidFill>
                      <a:srgbClr val="172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0E5FF"/>
                          </a:solidFill>
                          <a:latin typeface="Segoe UI"/>
                        </a:rPr>
                        <a:t>1 HP OmniBook X 14 replaces entire cart</a:t>
                      </a:r>
                    </a:p>
                  </a:txBody>
                  <a:tcPr anchor="ctr" marL="76200" marR="76200" marT="50800" marB="50800">
                    <a:solidFill>
                      <a:srgbClr val="0B255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Segoe UI"/>
                        </a:rPr>
                        <a:t>Battery Endurance</a:t>
                      </a:r>
                    </a:p>
                  </a:txBody>
                  <a:tcPr anchor="ctr" marL="76200" marR="762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Segoe UI"/>
                        </a:rPr>
                        <a:t>AC mains only - 0 hours</a:t>
                      </a:r>
                    </a:p>
                  </a:txBody>
                  <a:tcPr anchor="ctr" marL="76200" marR="762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Segoe UI"/>
                        </a:rPr>
                        <a:t>4-6 hours (tablet)</a:t>
                      </a:r>
                    </a:p>
                  </a:txBody>
                  <a:tcPr anchor="ctr" marL="76200" marR="762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0E5FF"/>
                          </a:solidFill>
                          <a:latin typeface="Segoe UI"/>
                        </a:rPr>
                        <a:t>26+ hours via HP Smart Sense Eco mode</a:t>
                      </a:r>
                    </a:p>
                  </a:txBody>
                  <a:tcPr anchor="ctr" marL="76200" marR="76200" marT="50800" marB="50800">
                    <a:solidFill>
                      <a:srgbClr val="17244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Segoe UI"/>
                        </a:rPr>
                        <a:t>Data Privacy</a:t>
                      </a:r>
                    </a:p>
                  </a:txBody>
                  <a:tcPr anchor="ctr" marL="76200" marR="76200" marT="50800" marB="50800">
                    <a:solidFill>
                      <a:srgbClr val="172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Segoe UI"/>
                        </a:rPr>
                        <a:t>Paper records</a:t>
                      </a:r>
                    </a:p>
                  </a:txBody>
                  <a:tcPr anchor="ctr" marL="76200" marR="76200" marT="50800" marB="50800">
                    <a:solidFill>
                      <a:srgbClr val="172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Segoe UI"/>
                        </a:rPr>
                        <a:t>High cloud-breach risk</a:t>
                      </a:r>
                    </a:p>
                  </a:txBody>
                  <a:tcPr anchor="ctr" marL="76200" marR="76200" marT="50800" marB="50800">
                    <a:solidFill>
                      <a:srgbClr val="172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0E5FF"/>
                          </a:solidFill>
                          <a:latin typeface="Segoe UI"/>
                        </a:rPr>
                        <a:t>AES-256-GCM Wolf Vault - DPDP Act 2023</a:t>
                      </a:r>
                    </a:p>
                  </a:txBody>
                  <a:tcPr anchor="ctr" marL="76200" marR="76200" marT="50800" marB="50800">
                    <a:solidFill>
                      <a:srgbClr val="0B255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Segoe UI"/>
                        </a:rPr>
                        <a:t>Drug Cost Savings</a:t>
                      </a:r>
                    </a:p>
                  </a:txBody>
                  <a:tcPr anchor="ctr" marL="76200" marR="762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Segoe UI"/>
                        </a:rPr>
                        <a:t>None</a:t>
                      </a:r>
                    </a:p>
                  </a:txBody>
                  <a:tcPr anchor="ctr" marL="76200" marR="762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1F5F9"/>
                          </a:solidFill>
                          <a:latin typeface="Segoe UI"/>
                        </a:rPr>
                        <a:t>None</a:t>
                      </a:r>
                    </a:p>
                  </a:txBody>
                  <a:tcPr anchor="ctr" marL="76200" marR="762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0E5FF"/>
                          </a:solidFill>
                          <a:latin typeface="Segoe UI"/>
                        </a:rPr>
                        <a:t>82.9% savings via PMBJP Jan Aushadhi AI</a:t>
                      </a:r>
                    </a:p>
                  </a:txBody>
                  <a:tcPr anchor="ctr" marL="76200" marR="76200" marT="50800" marB="50800">
                    <a:solidFill>
                      <a:srgbClr val="1724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82296"/>
            <a:ext cx="5120640" cy="256032"/>
          </a:xfrm>
          <a:prstGeom prst="roundRect">
            <a:avLst/>
          </a:prstGeom>
          <a:solidFill>
            <a:srgbClr val="0C1428"/>
          </a:solidFill>
          <a:ln w="1270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2296"/>
            <a:ext cx="5120640" cy="256032"/>
          </a:xfrm>
          <a:prstGeom prst="rect">
            <a:avLst/>
          </a:prstGeom>
          <a:noFill/>
        </p:spPr>
        <p:txBody>
          <a:bodyPr wrap="square" lIns="101600" rIns="101600" tIns="38100" bIns="38100">
            <a:spAutoFit/>
          </a:bodyPr>
          <a:lstStyle/>
          <a:p>
            <a:pPr algn="ctr"/>
            <a:r>
              <a:rPr sz="850" b="1">
                <a:solidFill>
                  <a:srgbClr val="00E5FF"/>
                </a:solidFill>
                <a:latin typeface="Segoe UI"/>
              </a:rPr>
              <a:t>VERIFICATION &amp; QUALITY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08615" y="82296"/>
            <a:ext cx="1188720" cy="256032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08615" y="82296"/>
            <a:ext cx="1188720" cy="256032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SLIDE 11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84048"/>
            <a:ext cx="11002975" cy="13716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8912"/>
            <a:ext cx="1100297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Segoe UI"/>
              </a:rPr>
              <a:t>35/35 Automated Tests • EXIT CODE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005840"/>
            <a:ext cx="1100297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00E5FF"/>
                </a:solidFill>
                <a:latin typeface="Segoe UI"/>
              </a:rPr>
              <a:t>FastAPI In-Memory Test Suite • 100% Offline Fallback Resilience Verified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73952"/>
            <a:ext cx="11002975" cy="13716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i="1">
                <a:solidFill>
                  <a:srgbClr val="94A3B8"/>
                </a:solidFill>
                <a:latin typeface="Segoe UI"/>
              </a:rPr>
              <a:t>OmniCare AI  |  Quality Gates &amp; Evaluation  |  Slide 11 / 12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94360" y="1481328"/>
          <a:ext cx="621792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005840"/>
                <a:gridCol w="1097280"/>
                <a:gridCol w="1188720"/>
              </a:tblGrid>
              <a:tr h="582930"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FFFFFF"/>
                          </a:solidFill>
                          <a:latin typeface="Segoe UI"/>
                        </a:rPr>
                        <a:t>Endpoint Category</a:t>
                      </a:r>
                    </a:p>
                  </a:txBody>
                  <a:tcPr anchor="ctr" marL="63500" marR="63500" marT="50800" marB="50800">
                    <a:solidFill>
                      <a:srgbClr val="005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FFFFFF"/>
                          </a:solidFill>
                          <a:latin typeface="Segoe UI"/>
                        </a:rPr>
                        <a:t>Gates</a:t>
                      </a:r>
                    </a:p>
                  </a:txBody>
                  <a:tcPr anchor="ctr" marL="63500" marR="63500" marT="50800" marB="50800">
                    <a:solidFill>
                      <a:srgbClr val="005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FFFFFF"/>
                          </a:solidFill>
                          <a:latin typeface="Segoe UI"/>
                        </a:rPr>
                        <a:t>Avg Latency</a:t>
                      </a:r>
                    </a:p>
                  </a:txBody>
                  <a:tcPr anchor="ctr" marL="63500" marR="63500" marT="50800" marB="50800">
                    <a:solidFill>
                      <a:srgbClr val="005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FFFFFF"/>
                          </a:solidFill>
                          <a:latin typeface="Segoe UI"/>
                        </a:rPr>
                        <a:t>Result</a:t>
                      </a:r>
                    </a:p>
                  </a:txBody>
                  <a:tcPr anchor="ctr" marL="63500" marR="63500" marT="50800" marB="50800">
                    <a:solidFill>
                      <a:srgbClr val="0052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Diagnostic AI Modalities (6 engines)</a:t>
                      </a:r>
                    </a:p>
                  </a:txBody>
                  <a:tcPr anchor="ctr" marL="63500" marR="635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  <a:latin typeface="Segoe UI"/>
                        </a:rPr>
                        <a:t>6 gates</a:t>
                      </a:r>
                    </a:p>
                  </a:txBody>
                  <a:tcPr anchor="ctr" marL="63500" marR="635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  <a:latin typeface="Segoe UI"/>
                        </a:rPr>
                        <a:t>8.6 ms</a:t>
                      </a:r>
                    </a:p>
                  </a:txBody>
                  <a:tcPr anchor="ctr" marL="63500" marR="635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0B981"/>
                          </a:solidFill>
                          <a:latin typeface="Segoe UI"/>
                        </a:rPr>
                        <a:t>PASSED</a:t>
                      </a:r>
                    </a:p>
                  </a:txBody>
                  <a:tcPr anchor="ctr" marL="63500" marR="63500" marT="50800" marB="50800">
                    <a:solidFill>
                      <a:srgbClr val="121D36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Clinical Intelligence (NEWS2, Council, DDI)</a:t>
                      </a:r>
                    </a:p>
                  </a:txBody>
                  <a:tcPr anchor="ctr" marL="63500" marR="63500" marT="50800" marB="50800">
                    <a:solidFill>
                      <a:srgbClr val="172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  <a:latin typeface="Segoe UI"/>
                        </a:rPr>
                        <a:t>4 gates</a:t>
                      </a:r>
                    </a:p>
                  </a:txBody>
                  <a:tcPr anchor="ctr" marL="63500" marR="63500" marT="50800" marB="50800">
                    <a:solidFill>
                      <a:srgbClr val="172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  <a:latin typeface="Segoe UI"/>
                        </a:rPr>
                        <a:t>4.3 ms</a:t>
                      </a:r>
                    </a:p>
                  </a:txBody>
                  <a:tcPr anchor="ctr" marL="63500" marR="63500" marT="50800" marB="50800">
                    <a:solidFill>
                      <a:srgbClr val="172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0B981"/>
                          </a:solidFill>
                          <a:latin typeface="Segoe UI"/>
                        </a:rPr>
                        <a:t>PASSED</a:t>
                      </a:r>
                    </a:p>
                  </a:txBody>
                  <a:tcPr anchor="ctr" marL="63500" marR="63500" marT="50800" marB="50800">
                    <a:solidFill>
                      <a:srgbClr val="172445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Security &amp; Wolf Vault Enclave</a:t>
                      </a:r>
                    </a:p>
                  </a:txBody>
                  <a:tcPr anchor="ctr" marL="63500" marR="635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  <a:latin typeface="Segoe UI"/>
                        </a:rPr>
                        <a:t>3 gates</a:t>
                      </a:r>
                    </a:p>
                  </a:txBody>
                  <a:tcPr anchor="ctr" marL="63500" marR="635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  <a:latin typeface="Segoe UI"/>
                        </a:rPr>
                        <a:t>6.8 ms</a:t>
                      </a:r>
                    </a:p>
                  </a:txBody>
                  <a:tcPr anchor="ctr" marL="63500" marR="635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0B981"/>
                          </a:solidFill>
                          <a:latin typeface="Segoe UI"/>
                        </a:rPr>
                        <a:t>PASSED</a:t>
                      </a:r>
                    </a:p>
                  </a:txBody>
                  <a:tcPr anchor="ctr" marL="63500" marR="63500" marT="50800" marB="50800">
                    <a:solidFill>
                      <a:srgbClr val="121D36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ABDM FHIR R4 Bundle Export</a:t>
                      </a:r>
                    </a:p>
                  </a:txBody>
                  <a:tcPr anchor="ctr" marL="63500" marR="63500" marT="50800" marB="50800">
                    <a:solidFill>
                      <a:srgbClr val="172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  <a:latin typeface="Segoe UI"/>
                        </a:rPr>
                        <a:t>2 gates</a:t>
                      </a:r>
                    </a:p>
                  </a:txBody>
                  <a:tcPr anchor="ctr" marL="63500" marR="63500" marT="50800" marB="50800">
                    <a:solidFill>
                      <a:srgbClr val="172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  <a:latin typeface="Segoe UI"/>
                        </a:rPr>
                        <a:t>4.2 ms</a:t>
                      </a:r>
                    </a:p>
                  </a:txBody>
                  <a:tcPr anchor="ctr" marL="63500" marR="63500" marT="50800" marB="50800">
                    <a:solidFill>
                      <a:srgbClr val="172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0B981"/>
                          </a:solidFill>
                          <a:latin typeface="Segoe UI"/>
                        </a:rPr>
                        <a:t>PASSED</a:t>
                      </a:r>
                    </a:p>
                  </a:txBody>
                  <a:tcPr anchor="ctr" marL="63500" marR="63500" marT="50800" marB="50800">
                    <a:solidFill>
                      <a:srgbClr val="172445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HP Smart Sense Governor &amp; Telemetry</a:t>
                      </a:r>
                    </a:p>
                  </a:txBody>
                  <a:tcPr anchor="ctr" marL="63500" marR="635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  <a:latin typeface="Segoe UI"/>
                        </a:rPr>
                        <a:t>3 gates</a:t>
                      </a:r>
                    </a:p>
                  </a:txBody>
                  <a:tcPr anchor="ctr" marL="63500" marR="635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  <a:latin typeface="Segoe UI"/>
                        </a:rPr>
                        <a:t>3.8 ms</a:t>
                      </a:r>
                    </a:p>
                  </a:txBody>
                  <a:tcPr anchor="ctr" marL="63500" marR="635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0B981"/>
                          </a:solidFill>
                          <a:latin typeface="Segoe UI"/>
                        </a:rPr>
                        <a:t>PASSED</a:t>
                      </a:r>
                    </a:p>
                  </a:txBody>
                  <a:tcPr anchor="ctr" marL="63500" marR="63500" marT="50800" marB="50800">
                    <a:solidFill>
                      <a:srgbClr val="121D36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Robustness &amp; Edge-Cases (400, 404, 422)</a:t>
                      </a:r>
                    </a:p>
                  </a:txBody>
                  <a:tcPr anchor="ctr" marL="63500" marR="63500" marT="50800" marB="50800">
                    <a:solidFill>
                      <a:srgbClr val="172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  <a:latin typeface="Segoe UI"/>
                        </a:rPr>
                        <a:t>10 gates</a:t>
                      </a:r>
                    </a:p>
                  </a:txBody>
                  <a:tcPr anchor="ctr" marL="63500" marR="63500" marT="50800" marB="50800">
                    <a:solidFill>
                      <a:srgbClr val="172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  <a:latin typeface="Segoe UI"/>
                        </a:rPr>
                        <a:t>4.1 ms</a:t>
                      </a:r>
                    </a:p>
                  </a:txBody>
                  <a:tcPr anchor="ctr" marL="63500" marR="63500" marT="50800" marB="50800">
                    <a:solidFill>
                      <a:srgbClr val="172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0B981"/>
                          </a:solidFill>
                          <a:latin typeface="Segoe UI"/>
                        </a:rPr>
                        <a:t>PASSED</a:t>
                      </a:r>
                    </a:p>
                  </a:txBody>
                  <a:tcPr anchor="ctr" marL="63500" marR="63500" marT="50800" marB="50800">
                    <a:solidFill>
                      <a:srgbClr val="172445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Hardware Transparency Mode</a:t>
                      </a:r>
                    </a:p>
                  </a:txBody>
                  <a:tcPr anchor="ctr" marL="63500" marR="635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  <a:latin typeface="Segoe UI"/>
                        </a:rPr>
                        <a:t>4 gates</a:t>
                      </a:r>
                    </a:p>
                  </a:txBody>
                  <a:tcPr anchor="ctr" marL="63500" marR="635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1F5F9"/>
                          </a:solidFill>
                          <a:latin typeface="Segoe UI"/>
                        </a:rPr>
                        <a:t>3.5 ms</a:t>
                      </a:r>
                    </a:p>
                  </a:txBody>
                  <a:tcPr anchor="ctr" marL="63500" marR="63500" marT="50800" marB="50800">
                    <a:solidFill>
                      <a:srgbClr val="121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0B981"/>
                          </a:solidFill>
                          <a:latin typeface="Segoe UI"/>
                        </a:rPr>
                        <a:t>PASSED</a:t>
                      </a:r>
                    </a:p>
                  </a:txBody>
                  <a:tcPr anchor="ctr" marL="63500" marR="63500" marT="50800" marB="50800">
                    <a:solidFill>
                      <a:srgbClr val="121D36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7040880" y="1481328"/>
            <a:ext cx="4556455" cy="1444752"/>
          </a:xfrm>
          <a:prstGeom prst="roundRect">
            <a:avLst/>
          </a:prstGeom>
          <a:solidFill>
            <a:srgbClr val="121D36"/>
          </a:solidFill>
          <a:ln w="1905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0880" y="1481328"/>
            <a:ext cx="4556455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5472" y="1572768"/>
            <a:ext cx="4227271" cy="12801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b="1" sz="1150">
                <a:solidFill>
                  <a:srgbClr val="00E5FF"/>
                </a:solidFill>
                <a:latin typeface="Segoe UI"/>
              </a:rPr>
              <a:t>Path A — 1-Click Showcase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1F5F9"/>
                </a:solidFill>
                <a:latin typeface="Segoe UI"/>
              </a:rPr>
              <a:t>Open showcase/index.html in browser.</a:t>
            </a:r>
            <a:br/>
            <a:r>
              <a:t>Test 4 clinical scenarios 100% offline.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3090672"/>
            <a:ext cx="4556455" cy="1444752"/>
          </a:xfrm>
          <a:prstGeom prst="roundRect">
            <a:avLst/>
          </a:prstGeom>
          <a:solidFill>
            <a:srgbClr val="121D36"/>
          </a:solidFill>
          <a:ln w="1905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40880" y="3090672"/>
            <a:ext cx="4556455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05472" y="3182112"/>
            <a:ext cx="4227271" cy="12801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b="1" sz="1150">
                <a:solidFill>
                  <a:srgbClr val="00E5FF"/>
                </a:solidFill>
                <a:latin typeface="Segoe UI"/>
              </a:rPr>
              <a:t>Path B — Full-Stack Cockpit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1F5F9"/>
                </a:solidFill>
                <a:latin typeface="Segoe UI"/>
              </a:rPr>
              <a:t>Run .\launch_omnicare.ps1</a:t>
            </a:r>
            <a:br/>
            <a:r>
              <a:t>Open http://localhost:8000/docs</a:t>
            </a:r>
            <a:br/>
            <a:r>
              <a:t>Open frontend/index.html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4700016"/>
            <a:ext cx="4556455" cy="1444752"/>
          </a:xfrm>
          <a:prstGeom prst="roundRect">
            <a:avLst/>
          </a:prstGeom>
          <a:solidFill>
            <a:srgbClr val="121D36"/>
          </a:solidFill>
          <a:ln w="1905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4700016"/>
            <a:ext cx="4556455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05472" y="4791456"/>
            <a:ext cx="4227271" cy="12801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b="1" sz="1150">
                <a:solidFill>
                  <a:srgbClr val="00E5FF"/>
                </a:solidFill>
                <a:latin typeface="Segoe UI"/>
              </a:rPr>
              <a:t>Path C — Master Quality Gates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1F5F9"/>
                </a:solidFill>
                <a:latin typeface="Segoe UI"/>
              </a:rPr>
              <a:t>python verify_all.py</a:t>
            </a:r>
            <a:br/>
            <a:r>
              <a:t>All 35 gates pass cleanly (EXIT CODE 0)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82296"/>
            <a:ext cx="5120640" cy="256032"/>
          </a:xfrm>
          <a:prstGeom prst="roundRect">
            <a:avLst/>
          </a:prstGeom>
          <a:solidFill>
            <a:srgbClr val="0C1428"/>
          </a:solidFill>
          <a:ln w="1270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2296"/>
            <a:ext cx="5120640" cy="256032"/>
          </a:xfrm>
          <a:prstGeom prst="rect">
            <a:avLst/>
          </a:prstGeom>
          <a:noFill/>
        </p:spPr>
        <p:txBody>
          <a:bodyPr wrap="square" lIns="101600" rIns="101600" tIns="38100" bIns="38100">
            <a:spAutoFit/>
          </a:bodyPr>
          <a:lstStyle/>
          <a:p>
            <a:pPr algn="ctr"/>
            <a:r>
              <a:rPr sz="850" b="1">
                <a:solidFill>
                  <a:srgbClr val="00E5FF"/>
                </a:solidFill>
                <a:latin typeface="Segoe UI"/>
              </a:rPr>
              <a:t>REAL-WORLD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08615" y="82296"/>
            <a:ext cx="1188720" cy="256032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08615" y="82296"/>
            <a:ext cx="1188720" cy="256032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SLIDE 12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84048"/>
            <a:ext cx="11002975" cy="13716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8912"/>
            <a:ext cx="1100297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Segoe UI"/>
              </a:rPr>
              <a:t>OmniCare AI — Built for 1.4 Billion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005840"/>
            <a:ext cx="1100297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00E5FF"/>
                </a:solidFill>
                <a:latin typeface="Segoe UI"/>
              </a:rPr>
              <a:t>India's Rural Healthcare Divide Solved by the World's Most Powerful Laptop NPU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73952"/>
            <a:ext cx="11002975" cy="13716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i="1">
                <a:solidFill>
                  <a:srgbClr val="94A3B8"/>
                </a:solidFill>
                <a:latin typeface="Segoe UI"/>
              </a:rPr>
              <a:t>OmniCare AI  |  Qualcomm Snapdragon AI Lab Challenge 2026  |  Slide 12 /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460" y="1481328"/>
            <a:ext cx="2674543" cy="1691640"/>
          </a:xfrm>
          <a:prstGeom prst="roundRect">
            <a:avLst/>
          </a:prstGeom>
          <a:solidFill>
            <a:srgbClr val="121D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7860" y="1536192"/>
            <a:ext cx="2623743" cy="155448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b="1" sz="2400">
                <a:solidFill>
                  <a:srgbClr val="10B981"/>
                </a:solidFill>
                <a:latin typeface="Segoe UI"/>
              </a:rPr>
              <a:t>150,000</a:t>
            </a:r>
          </a:p>
          <a:p>
            <a:pPr algn="ctr">
              <a:spcBef>
                <a:spcPts val="300"/>
              </a:spcBef>
            </a:pPr>
            <a:r>
              <a:rPr b="1" sz="1000">
                <a:solidFill>
                  <a:srgbClr val="FFFFFF"/>
                </a:solidFill>
                <a:latin typeface="Segoe UI"/>
              </a:rPr>
              <a:t>AB-HWCs ready for deployment</a:t>
            </a:r>
          </a:p>
          <a:p>
            <a:pPr algn="ctr">
              <a:spcBef>
                <a:spcPts val="200"/>
              </a:spcBef>
            </a:pPr>
            <a:r>
              <a:rPr i="1" sz="850">
                <a:solidFill>
                  <a:srgbClr val="CBD5E1"/>
                </a:solidFill>
                <a:latin typeface="Segoe UI"/>
              </a:rPr>
              <a:t>No infrastructure change needed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03" y="1481328"/>
            <a:ext cx="2674543" cy="1691640"/>
          </a:xfrm>
          <a:prstGeom prst="roundRect">
            <a:avLst/>
          </a:prstGeom>
          <a:solidFill>
            <a:srgbClr val="121D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08603" y="1536192"/>
            <a:ext cx="2623743" cy="155448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b="1" sz="2400">
                <a:solidFill>
                  <a:srgbClr val="10B981"/>
                </a:solidFill>
                <a:latin typeface="Segoe UI"/>
              </a:rPr>
              <a:t>82.9%</a:t>
            </a:r>
          </a:p>
          <a:p>
            <a:pPr algn="ctr">
              <a:spcBef>
                <a:spcPts val="300"/>
              </a:spcBef>
            </a:pPr>
            <a:r>
              <a:rPr b="1" sz="1000">
                <a:solidFill>
                  <a:srgbClr val="FFFFFF"/>
                </a:solidFill>
                <a:latin typeface="Segoe UI"/>
              </a:rPr>
              <a:t>Average prescription savings</a:t>
            </a:r>
          </a:p>
          <a:p>
            <a:pPr algn="ctr">
              <a:spcBef>
                <a:spcPts val="200"/>
              </a:spcBef>
            </a:pPr>
            <a:r>
              <a:rPr i="1" sz="850">
                <a:solidFill>
                  <a:srgbClr val="CBD5E1"/>
                </a:solidFill>
                <a:latin typeface="Segoe UI"/>
              </a:rPr>
              <a:t>PMBJP Jan Aushadhi Rx 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33946" y="1481328"/>
            <a:ext cx="2674543" cy="1691640"/>
          </a:xfrm>
          <a:prstGeom prst="roundRect">
            <a:avLst/>
          </a:prstGeom>
          <a:solidFill>
            <a:srgbClr val="121D36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9346" y="1536192"/>
            <a:ext cx="2623743" cy="155448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b="1" sz="2400">
                <a:solidFill>
                  <a:srgbClr val="00E5FF"/>
                </a:solidFill>
                <a:latin typeface="Segoe UI"/>
              </a:rPr>
              <a:t>26+ hrs</a:t>
            </a:r>
          </a:p>
          <a:p>
            <a:pPr algn="ctr">
              <a:spcBef>
                <a:spcPts val="300"/>
              </a:spcBef>
            </a:pPr>
            <a:r>
              <a:rPr b="1" sz="1000">
                <a:solidFill>
                  <a:srgbClr val="FFFFFF"/>
                </a:solidFill>
                <a:latin typeface="Segoe UI"/>
              </a:rPr>
              <a:t>Off-grid battery per charge</a:t>
            </a:r>
          </a:p>
          <a:p>
            <a:pPr algn="ctr">
              <a:spcBef>
                <a:spcPts val="200"/>
              </a:spcBef>
            </a:pPr>
            <a:r>
              <a:rPr i="1" sz="850">
                <a:solidFill>
                  <a:srgbClr val="CBD5E1"/>
                </a:solidFill>
                <a:latin typeface="Segoe UI"/>
              </a:rPr>
              <a:t>HP Smart Sense Eco mode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84689" y="1481328"/>
            <a:ext cx="2674543" cy="1691640"/>
          </a:xfrm>
          <a:prstGeom prst="roundRect">
            <a:avLst/>
          </a:prstGeom>
          <a:solidFill>
            <a:srgbClr val="121D36"/>
          </a:solidFill>
          <a:ln w="1905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0089" y="1536192"/>
            <a:ext cx="2623743" cy="155448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b="1" sz="2400">
                <a:solidFill>
                  <a:srgbClr val="0052FF"/>
                </a:solidFill>
                <a:latin typeface="Segoe UI"/>
              </a:rPr>
              <a:t>$15K+</a:t>
            </a:r>
          </a:p>
          <a:p>
            <a:pPr algn="ctr">
              <a:spcBef>
                <a:spcPts val="300"/>
              </a:spcBef>
            </a:pPr>
            <a:r>
              <a:rPr b="1" sz="1000">
                <a:solidFill>
                  <a:srgbClr val="FFFFFF"/>
                </a:solidFill>
                <a:latin typeface="Segoe UI"/>
              </a:rPr>
              <a:t>Equipment replaced per HP PC</a:t>
            </a:r>
          </a:p>
          <a:p>
            <a:pPr algn="ctr">
              <a:spcBef>
                <a:spcPts val="200"/>
              </a:spcBef>
            </a:pPr>
            <a:r>
              <a:rPr i="1" sz="850">
                <a:solidFill>
                  <a:srgbClr val="CBD5E1"/>
                </a:solidFill>
                <a:latin typeface="Segoe UI"/>
              </a:rPr>
              <a:t>Zero capital expenditure needed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364992"/>
            <a:ext cx="11002975" cy="2971800"/>
          </a:xfrm>
          <a:prstGeom prst="roundRect">
            <a:avLst/>
          </a:prstGeom>
          <a:solidFill>
            <a:srgbClr val="121D36"/>
          </a:solidFill>
          <a:ln w="1905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3364992"/>
            <a:ext cx="11002975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493008"/>
            <a:ext cx="10454335" cy="2697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b="1" sz="1250">
                <a:solidFill>
                  <a:srgbClr val="00E5FF"/>
                </a:solidFill>
                <a:latin typeface="Segoe UI"/>
              </a:rPr>
              <a:t>CLOSING VISION &amp; DEPLOYMENT COMMITMENT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F1F5F9"/>
                </a:solidFill>
                <a:latin typeface="Segoe UI"/>
              </a:rPr>
              <a:t>OmniCare AI transforms standard Snapdragon-powered HP PCs into tertiary-grade clinical workstations. Frontline Community Health Officers gain cardiologist, pulmonologist, and dermatologist AI capabilities on a lightweight laptop carried on a motorbike to India's most remote villages.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F1F5F9"/>
                </a:solidFill>
                <a:latin typeface="Segoe UI"/>
              </a:rPr>
              <a:t>Deployable today across 150,000 Ayushman Bharat Health Centres. Verified across 35 quality gates. 100% compliant with India's DPDP Act 2023.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00E5FF"/>
                </a:solidFill>
                <a:latin typeface="Segoe UI"/>
              </a:rPr>
              <a:t>GitHub Repository: github.com/Advik-harsha/OmniCare-AI  |  Master Verification: EXIT CODE 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